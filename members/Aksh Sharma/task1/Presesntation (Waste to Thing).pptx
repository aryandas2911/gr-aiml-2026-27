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1" d="100"/>
          <a:sy n="91" d="100"/>
        </p:scale>
        <p:origin x="3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4118258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756682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271264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29E322-C03A-47CE-831F-A89140BAD4F8}" type="datetimeFigureOut">
              <a:rPr lang="en-IN" smtClean="0"/>
              <a:t>10-10-2026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404743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29E322-C03A-47CE-831F-A89140BAD4F8}" type="datetimeFigureOut">
              <a:rPr lang="en-IN" smtClean="0"/>
              <a:t>10-10-2026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160551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450709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963193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56583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9E322-C03A-47CE-831F-A89140BAD4F8}" type="datetimeFigureOut">
              <a:rPr lang="en-IN" smtClean="0"/>
              <a:t>10-10-2026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419687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9E322-C03A-47CE-831F-A89140BAD4F8}" type="datetimeFigureOut">
              <a:rPr lang="en-IN" smtClean="0"/>
              <a:t>10-10-2026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629104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1202674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34161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3736677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2937748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24779953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1460547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9E322-C03A-47CE-831F-A89140BAD4F8}" type="datetimeFigureOut">
              <a:rPr lang="en-IN" smtClean="0"/>
              <a:t>10-10-2026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7EEB0B-9916-4E74-B825-8AB2EAEDC499}" type="slidenum">
              <a:rPr lang="en-IN" smtClean="0"/>
              <a:t>‹#›</a:t>
            </a:fld>
            <a:endParaRPr lang="en-IN"/>
          </a:p>
        </p:txBody>
      </p:sp>
    </p:spTree>
    <p:extLst>
      <p:ext uri="{BB962C8B-B14F-4D97-AF65-F5344CB8AC3E}">
        <p14:creationId xmlns:p14="http://schemas.microsoft.com/office/powerpoint/2010/main" val="1079547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C29E322-C03A-47CE-831F-A89140BAD4F8}" type="datetimeFigureOut">
              <a:rPr lang="en-IN" smtClean="0"/>
              <a:t>10-10-2026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47EEB0B-9916-4E74-B825-8AB2EAEDC499}" type="slidenum">
              <a:rPr lang="en-IN" smtClean="0"/>
              <a:t>‹#›</a:t>
            </a:fld>
            <a:endParaRPr lang="en-IN"/>
          </a:p>
        </p:txBody>
      </p:sp>
    </p:spTree>
    <p:extLst>
      <p:ext uri="{BB962C8B-B14F-4D97-AF65-F5344CB8AC3E}">
        <p14:creationId xmlns:p14="http://schemas.microsoft.com/office/powerpoint/2010/main" val="23078265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fridoo.com/en/" TargetMode="External"/><Relationship Id="rId2" Type="http://schemas.openxmlformats.org/officeDocument/2006/relationships/hyperlink" Target="https://www.wemakedevs.org/aws/env" TargetMode="External"/><Relationship Id="rId1" Type="http://schemas.openxmlformats.org/officeDocument/2006/relationships/slideLayout" Target="../slideLayouts/slideLayout2.xml"/><Relationship Id="rId5" Type="http://schemas.openxmlformats.org/officeDocument/2006/relationships/hyperlink" Target="https://www.shaktiplasticinds.com/the-challenges-of-waste-management-in-india/" TargetMode="External"/><Relationship Id="rId4" Type="http://schemas.openxmlformats.org/officeDocument/2006/relationships/hyperlink" Target="https://www.link-labs.com/blog/the-biggest-problems-with-waste-management-and-how-to-overcome-th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CA4BE-9DFF-4F49-B734-F13A32533F03}"/>
              </a:ext>
            </a:extLst>
          </p:cNvPr>
          <p:cNvSpPr>
            <a:spLocks noGrp="1"/>
          </p:cNvSpPr>
          <p:nvPr>
            <p:ph type="ctrTitle"/>
          </p:nvPr>
        </p:nvSpPr>
        <p:spPr>
          <a:xfrm>
            <a:off x="2044188" y="2491530"/>
            <a:ext cx="8825658" cy="1144948"/>
          </a:xfrm>
        </p:spPr>
        <p:txBody>
          <a:bodyPr/>
          <a:lstStyle/>
          <a:p>
            <a:r>
              <a:rPr lang="en-IN" dirty="0"/>
              <a:t>Product Name-			          								</a:t>
            </a:r>
            <a:r>
              <a:rPr lang="en-IN" sz="6000" dirty="0">
                <a:solidFill>
                  <a:schemeClr val="accent1">
                    <a:lumMod val="60000"/>
                    <a:lumOff val="40000"/>
                  </a:schemeClr>
                </a:solidFill>
                <a:latin typeface="Bahnschrift SemiBold" panose="020B0502040204020203" pitchFamily="34" charset="0"/>
              </a:rPr>
              <a:t>Wate-to-thing</a:t>
            </a:r>
            <a:endParaRPr lang="en-IN" dirty="0">
              <a:solidFill>
                <a:schemeClr val="accent1">
                  <a:lumMod val="60000"/>
                  <a:lumOff val="40000"/>
                </a:schemeClr>
              </a:solidFill>
              <a:latin typeface="Bahnschrift SemiBold" panose="020B0502040204020203" pitchFamily="34" charset="0"/>
            </a:endParaRPr>
          </a:p>
        </p:txBody>
      </p:sp>
      <p:sp>
        <p:nvSpPr>
          <p:cNvPr id="3" name="Subtitle 2">
            <a:extLst>
              <a:ext uri="{FF2B5EF4-FFF2-40B4-BE49-F238E27FC236}">
                <a16:creationId xmlns:a16="http://schemas.microsoft.com/office/drawing/2014/main" id="{BAA0B4F1-5B3B-4890-895F-9C43A895C775}"/>
              </a:ext>
            </a:extLst>
          </p:cNvPr>
          <p:cNvSpPr>
            <a:spLocks noGrp="1"/>
          </p:cNvSpPr>
          <p:nvPr>
            <p:ph type="subTitle" idx="1"/>
          </p:nvPr>
        </p:nvSpPr>
        <p:spPr>
          <a:xfrm>
            <a:off x="2438181" y="4644855"/>
            <a:ext cx="6496095" cy="447264"/>
          </a:xfrm>
        </p:spPr>
        <p:txBody>
          <a:bodyPr/>
          <a:lstStyle/>
          <a:p>
            <a:r>
              <a:rPr lang="en-IN" b="1" dirty="0">
                <a:solidFill>
                  <a:schemeClr val="bg1">
                    <a:lumMod val="95000"/>
                    <a:lumOff val="5000"/>
                  </a:schemeClr>
                </a:solidFill>
              </a:rPr>
              <a:t>Smart Ai – driven Waste management System.</a:t>
            </a:r>
          </a:p>
        </p:txBody>
      </p:sp>
    </p:spTree>
    <p:extLst>
      <p:ext uri="{BB962C8B-B14F-4D97-AF65-F5344CB8AC3E}">
        <p14:creationId xmlns:p14="http://schemas.microsoft.com/office/powerpoint/2010/main" val="2070370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C280B-5288-4749-991F-3708339DA96D}"/>
              </a:ext>
            </a:extLst>
          </p:cNvPr>
          <p:cNvSpPr>
            <a:spLocks noGrp="1"/>
          </p:cNvSpPr>
          <p:nvPr>
            <p:ph type="title"/>
          </p:nvPr>
        </p:nvSpPr>
        <p:spPr>
          <a:xfrm>
            <a:off x="646111" y="452718"/>
            <a:ext cx="9404723" cy="772075"/>
          </a:xfrm>
        </p:spPr>
        <p:txBody>
          <a:bodyPr/>
          <a:lstStyle/>
          <a:p>
            <a:r>
              <a:rPr lang="en-IN" b="1" dirty="0">
                <a:solidFill>
                  <a:schemeClr val="accent1">
                    <a:lumMod val="60000"/>
                    <a:lumOff val="40000"/>
                  </a:schemeClr>
                </a:solidFill>
                <a:latin typeface="Arial Rounded MT Bold" panose="020F0704030504030204" pitchFamily="34" charset="0"/>
              </a:rPr>
              <a:t>What is Problem ??</a:t>
            </a:r>
          </a:p>
        </p:txBody>
      </p:sp>
      <p:sp>
        <p:nvSpPr>
          <p:cNvPr id="3" name="Content Placeholder 2">
            <a:extLst>
              <a:ext uri="{FF2B5EF4-FFF2-40B4-BE49-F238E27FC236}">
                <a16:creationId xmlns:a16="http://schemas.microsoft.com/office/drawing/2014/main" id="{5D65BFD1-97D6-43D2-B37E-C7DDED2FD050}"/>
              </a:ext>
            </a:extLst>
          </p:cNvPr>
          <p:cNvSpPr>
            <a:spLocks noGrp="1"/>
          </p:cNvSpPr>
          <p:nvPr>
            <p:ph idx="1"/>
          </p:nvPr>
        </p:nvSpPr>
        <p:spPr>
          <a:xfrm>
            <a:off x="685101" y="1468072"/>
            <a:ext cx="10821797" cy="4601650"/>
          </a:xfrm>
        </p:spPr>
        <p:txBody>
          <a:bodyPr>
            <a:normAutofit lnSpcReduction="10000"/>
          </a:bodyPr>
          <a:lstStyle/>
          <a:p>
            <a:pPr marL="0" indent="0">
              <a:buNone/>
            </a:pPr>
            <a:endParaRPr lang="en-IN" dirty="0"/>
          </a:p>
          <a:p>
            <a:r>
              <a:rPr lang="en-IN" dirty="0"/>
              <a:t>Problem is as we can see big industries produce lot of waste which harm to environment and industries have to pay lot of fines because of </a:t>
            </a:r>
            <a:r>
              <a:rPr lang="en-IN" dirty="0" err="1"/>
              <a:t>that,on</a:t>
            </a:r>
            <a:r>
              <a:rPr lang="en-IN" dirty="0"/>
              <a:t> the other hand there are many industries who took those waste and create useful products from that waste, due to which there has been always lack like industry who produces the waste they don’t get reasonable prices or doesn’t even get buyer for their waste and on other side industries who use that waste to create products , they don’t get waste at a good prices and at a very lower distance from their industry. This is very big problem concern for economically and environmentally both.</a:t>
            </a:r>
          </a:p>
          <a:p>
            <a:endParaRPr lang="en-IN" dirty="0"/>
          </a:p>
          <a:p>
            <a:r>
              <a:rPr lang="en-IN" b="1" dirty="0">
                <a:solidFill>
                  <a:srgbClr val="002060"/>
                </a:solidFill>
              </a:rPr>
              <a:t>Summary of Problem </a:t>
            </a:r>
            <a:r>
              <a:rPr lang="en-IN" dirty="0"/>
              <a:t>- </a:t>
            </a:r>
            <a:r>
              <a:rPr lang="en-US" b="1" dirty="0"/>
              <a:t>“There is no efficient, intelligent system that matches industrial waste with the industries that can reuse it based on material compatibility, quality, quantity, price, and location.”</a:t>
            </a:r>
            <a:endParaRPr lang="en-US" dirty="0"/>
          </a:p>
        </p:txBody>
      </p:sp>
    </p:spTree>
    <p:extLst>
      <p:ext uri="{BB962C8B-B14F-4D97-AF65-F5344CB8AC3E}">
        <p14:creationId xmlns:p14="http://schemas.microsoft.com/office/powerpoint/2010/main" val="3637679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B97FA-343F-4CF0-9352-8E92A508DD76}"/>
              </a:ext>
            </a:extLst>
          </p:cNvPr>
          <p:cNvSpPr>
            <a:spLocks noGrp="1"/>
          </p:cNvSpPr>
          <p:nvPr>
            <p:ph type="title"/>
          </p:nvPr>
        </p:nvSpPr>
        <p:spPr/>
        <p:txBody>
          <a:bodyPr/>
          <a:lstStyle/>
          <a:p>
            <a:r>
              <a:rPr lang="en-IN" b="1" dirty="0">
                <a:solidFill>
                  <a:schemeClr val="accent1">
                    <a:lumMod val="60000"/>
                    <a:lumOff val="40000"/>
                  </a:schemeClr>
                </a:solidFill>
                <a:latin typeface="Arial Rounded MT Bold" panose="020F0704030504030204" pitchFamily="34" charset="0"/>
              </a:rPr>
              <a:t>Who faces the problem ??</a:t>
            </a:r>
          </a:p>
        </p:txBody>
      </p:sp>
      <p:sp>
        <p:nvSpPr>
          <p:cNvPr id="3" name="Content Placeholder 2">
            <a:extLst>
              <a:ext uri="{FF2B5EF4-FFF2-40B4-BE49-F238E27FC236}">
                <a16:creationId xmlns:a16="http://schemas.microsoft.com/office/drawing/2014/main" id="{2D0E2323-D949-4706-B3C4-7BB4D6CCCFEF}"/>
              </a:ext>
            </a:extLst>
          </p:cNvPr>
          <p:cNvSpPr>
            <a:spLocks noGrp="1"/>
          </p:cNvSpPr>
          <p:nvPr>
            <p:ph idx="1"/>
          </p:nvPr>
        </p:nvSpPr>
        <p:spPr>
          <a:xfrm>
            <a:off x="763398" y="1384183"/>
            <a:ext cx="11014745" cy="5167619"/>
          </a:xfrm>
        </p:spPr>
        <p:txBody>
          <a:bodyPr/>
          <a:lstStyle/>
          <a:p>
            <a:pPr marL="0" indent="0">
              <a:buNone/>
            </a:pPr>
            <a:endParaRPr lang="en-IN" dirty="0"/>
          </a:p>
          <a:p>
            <a:r>
              <a:rPr lang="en-IN" b="1" dirty="0">
                <a:solidFill>
                  <a:schemeClr val="bg1">
                    <a:lumMod val="95000"/>
                    <a:lumOff val="5000"/>
                  </a:schemeClr>
                </a:solidFill>
              </a:rPr>
              <a:t>Waste-generating industries </a:t>
            </a:r>
            <a:r>
              <a:rPr lang="en-IN" dirty="0"/>
              <a:t>- </a:t>
            </a:r>
            <a:r>
              <a:rPr lang="en-US" dirty="0"/>
              <a:t>They may have surplus industrial waste/by-products but struggle to find suitable nearby buyers, get fair value, or reduce disposal and transportation costs.</a:t>
            </a:r>
          </a:p>
          <a:p>
            <a:endParaRPr lang="en-US" dirty="0"/>
          </a:p>
          <a:p>
            <a:r>
              <a:rPr lang="en-US" b="1" dirty="0">
                <a:solidFill>
                  <a:schemeClr val="bg1">
                    <a:lumMod val="95000"/>
                    <a:lumOff val="5000"/>
                  </a:schemeClr>
                </a:solidFill>
              </a:rPr>
              <a:t>Industries that can reuse waste</a:t>
            </a:r>
            <a:r>
              <a:rPr lang="en-US" dirty="0">
                <a:solidFill>
                  <a:schemeClr val="bg1">
                    <a:lumMod val="95000"/>
                    <a:lumOff val="5000"/>
                  </a:schemeClr>
                </a:solidFill>
              </a:rPr>
              <a:t> </a:t>
            </a:r>
            <a:r>
              <a:rPr lang="en-US" dirty="0"/>
              <a:t>– They may need materials such as fly ash, scrap metal, plastic waste, textile waste, etc., but finding the </a:t>
            </a:r>
            <a:r>
              <a:rPr lang="en-US" b="1" dirty="0"/>
              <a:t>right quality, quantity, price, and reliable supplier</a:t>
            </a:r>
            <a:r>
              <a:rPr lang="en-US" dirty="0"/>
              <a:t> can be difficult.</a:t>
            </a:r>
          </a:p>
          <a:p>
            <a:endParaRPr lang="en-US" dirty="0"/>
          </a:p>
          <a:p>
            <a:r>
              <a:rPr lang="en-US" b="1" dirty="0">
                <a:solidFill>
                  <a:schemeClr val="bg1">
                    <a:lumMod val="95000"/>
                    <a:lumOff val="5000"/>
                  </a:schemeClr>
                </a:solidFill>
              </a:rPr>
              <a:t>Waste collectors / ragpickers</a:t>
            </a:r>
            <a:r>
              <a:rPr lang="en-US" dirty="0">
                <a:solidFill>
                  <a:schemeClr val="bg1">
                    <a:lumMod val="95000"/>
                    <a:lumOff val="5000"/>
                  </a:schemeClr>
                </a:solidFill>
              </a:rPr>
              <a:t> </a:t>
            </a:r>
            <a:r>
              <a:rPr lang="en-US" dirty="0"/>
              <a:t>– They often lack direct access to industrial sources and organized markets, limiting their ability to collect and monetize reusable materials.</a:t>
            </a:r>
            <a:endParaRPr lang="en-IN" dirty="0"/>
          </a:p>
        </p:txBody>
      </p:sp>
    </p:spTree>
    <p:extLst>
      <p:ext uri="{BB962C8B-B14F-4D97-AF65-F5344CB8AC3E}">
        <p14:creationId xmlns:p14="http://schemas.microsoft.com/office/powerpoint/2010/main" val="2989605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FD3F4-9B25-4013-B1D5-9DDDE29F1F8C}"/>
              </a:ext>
            </a:extLst>
          </p:cNvPr>
          <p:cNvSpPr>
            <a:spLocks noGrp="1"/>
          </p:cNvSpPr>
          <p:nvPr>
            <p:ph type="title"/>
          </p:nvPr>
        </p:nvSpPr>
        <p:spPr>
          <a:xfrm>
            <a:off x="524191" y="77173"/>
            <a:ext cx="9404723" cy="786427"/>
          </a:xfrm>
        </p:spPr>
        <p:txBody>
          <a:bodyPr/>
          <a:lstStyle/>
          <a:p>
            <a:r>
              <a:rPr lang="en-US" b="1" dirty="0">
                <a:solidFill>
                  <a:schemeClr val="accent1">
                    <a:lumMod val="60000"/>
                    <a:lumOff val="40000"/>
                  </a:schemeClr>
                </a:solidFill>
              </a:rPr>
              <a:t>Why this problem need to solve ??</a:t>
            </a:r>
            <a:endParaRPr lang="en-IN" b="1" dirty="0">
              <a:solidFill>
                <a:schemeClr val="accent1">
                  <a:lumMod val="60000"/>
                  <a:lumOff val="40000"/>
                </a:schemeClr>
              </a:solidFill>
            </a:endParaRPr>
          </a:p>
        </p:txBody>
      </p:sp>
      <p:graphicFrame>
        <p:nvGraphicFramePr>
          <p:cNvPr id="4" name="Table 4">
            <a:extLst>
              <a:ext uri="{FF2B5EF4-FFF2-40B4-BE49-F238E27FC236}">
                <a16:creationId xmlns:a16="http://schemas.microsoft.com/office/drawing/2014/main" id="{E4761C61-D69E-4620-89EE-2479FB5E97CC}"/>
              </a:ext>
            </a:extLst>
          </p:cNvPr>
          <p:cNvGraphicFramePr>
            <a:graphicFrameLocks noGrp="1"/>
          </p:cNvGraphicFramePr>
          <p:nvPr>
            <p:ph idx="1"/>
            <p:extLst>
              <p:ext uri="{D42A27DB-BD31-4B8C-83A1-F6EECF244321}">
                <p14:modId xmlns:p14="http://schemas.microsoft.com/office/powerpoint/2010/main" val="52782781"/>
              </p:ext>
            </p:extLst>
          </p:nvPr>
        </p:nvGraphicFramePr>
        <p:xfrm>
          <a:off x="670560" y="1111547"/>
          <a:ext cx="10657840" cy="5669280"/>
        </p:xfrm>
        <a:graphic>
          <a:graphicData uri="http://schemas.openxmlformats.org/drawingml/2006/table">
            <a:tbl>
              <a:tblPr firstRow="1" bandRow="1">
                <a:tableStyleId>{5C22544A-7EE6-4342-B048-85BDC9FD1C3A}</a:tableStyleId>
              </a:tblPr>
              <a:tblGrid>
                <a:gridCol w="5328920">
                  <a:extLst>
                    <a:ext uri="{9D8B030D-6E8A-4147-A177-3AD203B41FA5}">
                      <a16:colId xmlns:a16="http://schemas.microsoft.com/office/drawing/2014/main" val="1525701692"/>
                    </a:ext>
                  </a:extLst>
                </a:gridCol>
                <a:gridCol w="5328920">
                  <a:extLst>
                    <a:ext uri="{9D8B030D-6E8A-4147-A177-3AD203B41FA5}">
                      <a16:colId xmlns:a16="http://schemas.microsoft.com/office/drawing/2014/main" val="1345558416"/>
                    </a:ext>
                  </a:extLst>
                </a:gridCol>
              </a:tblGrid>
              <a:tr h="358620">
                <a:tc>
                  <a:txBody>
                    <a:bodyPr/>
                    <a:lstStyle/>
                    <a:p>
                      <a:r>
                        <a:rPr lang="en-IN" dirty="0"/>
                        <a:t>Basis</a:t>
                      </a:r>
                    </a:p>
                  </a:txBody>
                  <a:tcPr/>
                </a:tc>
                <a:tc>
                  <a:txBody>
                    <a:bodyPr/>
                    <a:lstStyle/>
                    <a:p>
                      <a:r>
                        <a:rPr lang="en-IN" dirty="0"/>
                        <a:t>Impact</a:t>
                      </a:r>
                    </a:p>
                  </a:txBody>
                  <a:tcPr/>
                </a:tc>
                <a:extLst>
                  <a:ext uri="{0D108BD9-81ED-4DB2-BD59-A6C34878D82A}">
                    <a16:rowId xmlns:a16="http://schemas.microsoft.com/office/drawing/2014/main" val="2593895950"/>
                  </a:ext>
                </a:extLst>
              </a:tr>
              <a:tr h="1972409">
                <a:tc>
                  <a:txBody>
                    <a:bodyPr/>
                    <a:lstStyle/>
                    <a:p>
                      <a:r>
                        <a:rPr lang="en-IN" dirty="0"/>
                        <a:t>Money</a:t>
                      </a:r>
                    </a:p>
                  </a:txBody>
                  <a:tcPr/>
                </a:tc>
                <a:tc>
                  <a:txBody>
                    <a:bodyPr/>
                    <a:lstStyle/>
                    <a:p>
                      <a:r>
                        <a:rPr lang="en-US" dirty="0"/>
                        <a:t>Waste-producing industries lose potential revenue from materials that could be sold. They may also incur transportation, treatment, storage, and disposal costs. Waste-consuming industries pay higher procurement and transportation costs when suitable waste is difficult to source locally.</a:t>
                      </a:r>
                      <a:endParaRPr lang="en-IN" dirty="0"/>
                    </a:p>
                  </a:txBody>
                  <a:tcPr/>
                </a:tc>
                <a:extLst>
                  <a:ext uri="{0D108BD9-81ED-4DB2-BD59-A6C34878D82A}">
                    <a16:rowId xmlns:a16="http://schemas.microsoft.com/office/drawing/2014/main" val="2609417531"/>
                  </a:ext>
                </a:extLst>
              </a:tr>
              <a:tr h="896550">
                <a:tc>
                  <a:txBody>
                    <a:bodyPr/>
                    <a:lstStyle/>
                    <a:p>
                      <a:r>
                        <a:rPr lang="en-IN" dirty="0"/>
                        <a:t>Time</a:t>
                      </a:r>
                    </a:p>
                  </a:txBody>
                  <a:tcPr/>
                </a:tc>
                <a:tc>
                  <a:txBody>
                    <a:bodyPr/>
                    <a:lstStyle/>
                    <a:p>
                      <a:r>
                        <a:rPr lang="en-IN" dirty="0"/>
                        <a:t>Both sides spend significant time searching for suitable buyer/sellers, negotiating prices and material quality.</a:t>
                      </a:r>
                    </a:p>
                  </a:txBody>
                  <a:tcPr/>
                </a:tc>
                <a:extLst>
                  <a:ext uri="{0D108BD9-81ED-4DB2-BD59-A6C34878D82A}">
                    <a16:rowId xmlns:a16="http://schemas.microsoft.com/office/drawing/2014/main" val="1316575733"/>
                  </a:ext>
                </a:extLst>
              </a:tr>
              <a:tr h="1165514">
                <a:tc>
                  <a:txBody>
                    <a:bodyPr/>
                    <a:lstStyle/>
                    <a:p>
                      <a:r>
                        <a:rPr lang="en-IN" dirty="0"/>
                        <a:t>Environment</a:t>
                      </a:r>
                    </a:p>
                  </a:txBody>
                  <a:tcPr/>
                </a:tc>
                <a:tc>
                  <a:txBody>
                    <a:bodyPr/>
                    <a:lstStyle/>
                    <a:p>
                      <a:r>
                        <a:rPr lang="en-US" dirty="0"/>
                        <a:t>When usable waste does not find a buyer, it may be sent for disposal or treatment instead of being reused, increasing the environmental burden and consumption of virgin resources.</a:t>
                      </a:r>
                      <a:endParaRPr lang="en-IN" dirty="0"/>
                    </a:p>
                  </a:txBody>
                  <a:tcPr/>
                </a:tc>
                <a:extLst>
                  <a:ext uri="{0D108BD9-81ED-4DB2-BD59-A6C34878D82A}">
                    <a16:rowId xmlns:a16="http://schemas.microsoft.com/office/drawing/2014/main" val="654934760"/>
                  </a:ext>
                </a:extLst>
              </a:tr>
              <a:tr h="1165514">
                <a:tc>
                  <a:txBody>
                    <a:bodyPr/>
                    <a:lstStyle/>
                    <a:p>
                      <a:r>
                        <a:rPr lang="en-IN" dirty="0"/>
                        <a:t>People &amp; Businesses</a:t>
                      </a:r>
                    </a:p>
                  </a:txBody>
                  <a:tcPr/>
                </a:tc>
                <a:tc>
                  <a:txBody>
                    <a:bodyPr/>
                    <a:lstStyle/>
                    <a:p>
                      <a:r>
                        <a:rPr lang="en-US" dirty="0"/>
                        <a:t>Industries face additional operational and financial pressure, while businesses that could convert waste into useful products may struggle to obtain consistent raw materials.</a:t>
                      </a:r>
                      <a:endParaRPr lang="en-IN" dirty="0"/>
                    </a:p>
                  </a:txBody>
                  <a:tcPr/>
                </a:tc>
                <a:extLst>
                  <a:ext uri="{0D108BD9-81ED-4DB2-BD59-A6C34878D82A}">
                    <a16:rowId xmlns:a16="http://schemas.microsoft.com/office/drawing/2014/main" val="2132891948"/>
                  </a:ext>
                </a:extLst>
              </a:tr>
            </a:tbl>
          </a:graphicData>
        </a:graphic>
      </p:graphicFrame>
    </p:spTree>
    <p:extLst>
      <p:ext uri="{BB962C8B-B14F-4D97-AF65-F5344CB8AC3E}">
        <p14:creationId xmlns:p14="http://schemas.microsoft.com/office/powerpoint/2010/main" val="167284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08E5A-13C1-400A-98D1-397F7C3736B1}"/>
              </a:ext>
            </a:extLst>
          </p:cNvPr>
          <p:cNvSpPr>
            <a:spLocks noGrp="1"/>
          </p:cNvSpPr>
          <p:nvPr>
            <p:ph type="title"/>
          </p:nvPr>
        </p:nvSpPr>
        <p:spPr>
          <a:xfrm>
            <a:off x="381951" y="117438"/>
            <a:ext cx="9404723" cy="796962"/>
          </a:xfrm>
        </p:spPr>
        <p:txBody>
          <a:bodyPr/>
          <a:lstStyle/>
          <a:p>
            <a:r>
              <a:rPr lang="en-IN" b="1" dirty="0">
                <a:solidFill>
                  <a:srgbClr val="FF0000"/>
                </a:solidFill>
                <a:latin typeface="Arial Rounded MT Bold" panose="020F0704030504030204" pitchFamily="34" charset="0"/>
              </a:rPr>
              <a:t>Solution - </a:t>
            </a:r>
          </a:p>
        </p:txBody>
      </p:sp>
      <p:sp>
        <p:nvSpPr>
          <p:cNvPr id="3" name="Content Placeholder 2">
            <a:extLst>
              <a:ext uri="{FF2B5EF4-FFF2-40B4-BE49-F238E27FC236}">
                <a16:creationId xmlns:a16="http://schemas.microsoft.com/office/drawing/2014/main" id="{3BFA2174-7442-4859-9EB4-9C84E917B3C4}"/>
              </a:ext>
            </a:extLst>
          </p:cNvPr>
          <p:cNvSpPr>
            <a:spLocks noGrp="1"/>
          </p:cNvSpPr>
          <p:nvPr>
            <p:ph idx="1"/>
          </p:nvPr>
        </p:nvSpPr>
        <p:spPr>
          <a:xfrm>
            <a:off x="562062" y="855678"/>
            <a:ext cx="11417417" cy="5645790"/>
          </a:xfrm>
        </p:spPr>
        <p:txBody>
          <a:bodyPr/>
          <a:lstStyle/>
          <a:p>
            <a:pPr marL="0" indent="0">
              <a:buNone/>
            </a:pPr>
            <a:endParaRPr lang="en-IN" dirty="0"/>
          </a:p>
          <a:p>
            <a:r>
              <a:rPr lang="en-US" dirty="0"/>
              <a:t>We propose a centralized platform that connects waste-generating industries, waste-using industries, and ragpickers. It matches available waste with potential buyers based on waste type, quantity, quality, price, and distance. Industries can upload waste details and images, making it easier for buyers to identify, evaluate, and purchase suitable materials.</a:t>
            </a:r>
          </a:p>
          <a:p>
            <a:pPr marL="0" indent="0">
              <a:buNone/>
            </a:pPr>
            <a:r>
              <a:rPr lang="en-US" dirty="0"/>
              <a:t>     </a:t>
            </a:r>
            <a:r>
              <a:rPr lang="en-US" sz="2400" b="1" dirty="0">
                <a:solidFill>
                  <a:srgbClr val="FF0000"/>
                </a:solidFill>
              </a:rPr>
              <a:t>What would our system will do ?? </a:t>
            </a:r>
          </a:p>
          <a:p>
            <a:pPr marL="914400" lvl="1" indent="-514350">
              <a:buFont typeface="+mj-lt"/>
              <a:buAutoNum type="romanUcPeriod"/>
            </a:pPr>
            <a:r>
              <a:rPr lang="en-US" b="1" dirty="0"/>
              <a:t>Collect waste listings from industries and ragpickers — type, quantity, quality, price, location, and images.</a:t>
            </a:r>
            <a:r>
              <a:rPr lang="en-IN" b="1" dirty="0">
                <a:solidFill>
                  <a:srgbClr val="FF0000"/>
                </a:solidFill>
              </a:rPr>
              <a:t>	</a:t>
            </a:r>
          </a:p>
          <a:p>
            <a:pPr marL="914400" lvl="1" indent="-514350">
              <a:buFont typeface="+mj-lt"/>
              <a:buAutoNum type="romanUcPeriod"/>
            </a:pPr>
            <a:r>
              <a:rPr lang="en-US" b="1" dirty="0"/>
              <a:t>Match waste with potential users</a:t>
            </a:r>
            <a:r>
              <a:rPr lang="en-US" dirty="0"/>
              <a:t> based on their requirements, especially material type, quantity, price, and distance.</a:t>
            </a:r>
            <a:endParaRPr lang="en-IN" b="1" dirty="0">
              <a:solidFill>
                <a:srgbClr val="FF0000"/>
              </a:solidFill>
            </a:endParaRPr>
          </a:p>
          <a:p>
            <a:pPr marL="914400" lvl="1" indent="-514350">
              <a:buFont typeface="+mj-lt"/>
              <a:buAutoNum type="romanUcPeriod"/>
            </a:pPr>
            <a:r>
              <a:rPr lang="en-US" b="1" dirty="0"/>
              <a:t>Allow users to view waste images and details</a:t>
            </a:r>
            <a:r>
              <a:rPr lang="en-US" dirty="0"/>
              <a:t> before contacting the other party.</a:t>
            </a:r>
            <a:endParaRPr lang="en-IN" b="1" dirty="0">
              <a:solidFill>
                <a:srgbClr val="FF0000"/>
              </a:solidFill>
            </a:endParaRPr>
          </a:p>
          <a:p>
            <a:pPr marL="914400" lvl="1" indent="-514350">
              <a:buFont typeface="+mj-lt"/>
              <a:buAutoNum type="romanUcPeriod"/>
            </a:pPr>
            <a:r>
              <a:rPr lang="en-US" b="1" dirty="0"/>
              <a:t>Connect the two parties</a:t>
            </a:r>
            <a:r>
              <a:rPr lang="en-US" dirty="0"/>
              <a:t> so they can negotiate and complete the transaction</a:t>
            </a:r>
            <a:endParaRPr lang="en-IN" b="1" dirty="0">
              <a:solidFill>
                <a:srgbClr val="FF0000"/>
              </a:solidFill>
            </a:endParaRPr>
          </a:p>
          <a:p>
            <a:pPr marL="400050" lvl="1" indent="0">
              <a:buNone/>
            </a:pPr>
            <a:r>
              <a:rPr lang="en-IN" b="1" dirty="0"/>
              <a:t>In one line - </a:t>
            </a:r>
            <a:r>
              <a:rPr lang="en-US" dirty="0"/>
              <a:t>The system matches waste suppliers with industries that can use that waste as a raw material, based on material suitability, price, quantity, and proximity.</a:t>
            </a:r>
            <a:endParaRPr lang="en-IN" b="1" dirty="0"/>
          </a:p>
        </p:txBody>
      </p:sp>
    </p:spTree>
    <p:extLst>
      <p:ext uri="{BB962C8B-B14F-4D97-AF65-F5344CB8AC3E}">
        <p14:creationId xmlns:p14="http://schemas.microsoft.com/office/powerpoint/2010/main" val="399578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53F4D-7B06-4F30-BCA2-9CD565A72A0E}"/>
              </a:ext>
            </a:extLst>
          </p:cNvPr>
          <p:cNvSpPr>
            <a:spLocks noGrp="1"/>
          </p:cNvSpPr>
          <p:nvPr>
            <p:ph type="title"/>
          </p:nvPr>
        </p:nvSpPr>
        <p:spPr>
          <a:xfrm>
            <a:off x="646111" y="452718"/>
            <a:ext cx="9404723" cy="889521"/>
          </a:xfrm>
        </p:spPr>
        <p:txBody>
          <a:bodyPr/>
          <a:lstStyle/>
          <a:p>
            <a:r>
              <a:rPr lang="en-IN" b="1" dirty="0">
                <a:solidFill>
                  <a:schemeClr val="accent1"/>
                </a:solidFill>
                <a:latin typeface="Arial Rounded MT Bold" panose="020F0704030504030204" pitchFamily="34" charset="0"/>
              </a:rPr>
              <a:t>Where does AI/ML comes ??</a:t>
            </a:r>
          </a:p>
        </p:txBody>
      </p:sp>
      <p:sp>
        <p:nvSpPr>
          <p:cNvPr id="3" name="Content Placeholder 2">
            <a:extLst>
              <a:ext uri="{FF2B5EF4-FFF2-40B4-BE49-F238E27FC236}">
                <a16:creationId xmlns:a16="http://schemas.microsoft.com/office/drawing/2014/main" id="{6FF2EC63-E504-4D42-B2BB-5E9F769C6920}"/>
              </a:ext>
            </a:extLst>
          </p:cNvPr>
          <p:cNvSpPr>
            <a:spLocks noGrp="1"/>
          </p:cNvSpPr>
          <p:nvPr>
            <p:ph idx="1"/>
          </p:nvPr>
        </p:nvSpPr>
        <p:spPr>
          <a:xfrm>
            <a:off x="646111" y="2043008"/>
            <a:ext cx="11107024" cy="3888009"/>
          </a:xfrm>
        </p:spPr>
        <p:txBody>
          <a:bodyPr>
            <a:normAutofit lnSpcReduction="10000"/>
          </a:bodyPr>
          <a:lstStyle/>
          <a:p>
            <a:r>
              <a:rPr lang="en-IN" dirty="0"/>
              <a:t>We rank the top matches using ml on the basis of multiple factors like- </a:t>
            </a:r>
          </a:p>
          <a:p>
            <a:pPr marL="800100" lvl="1" indent="-400050">
              <a:buClr>
                <a:schemeClr val="tx1"/>
              </a:buClr>
              <a:buFont typeface="+mj-lt"/>
              <a:buAutoNum type="romanUcPeriod"/>
            </a:pPr>
            <a:r>
              <a:rPr lang="en-IN" dirty="0"/>
              <a:t>Waste type &amp; composition</a:t>
            </a:r>
          </a:p>
          <a:p>
            <a:pPr marL="800100" lvl="1" indent="-400050">
              <a:buClr>
                <a:schemeClr val="tx1"/>
              </a:buClr>
              <a:buFont typeface="+mj-lt"/>
              <a:buAutoNum type="romanUcPeriod"/>
            </a:pPr>
            <a:r>
              <a:rPr lang="en-IN" dirty="0"/>
              <a:t>Quantity required vs. available</a:t>
            </a:r>
          </a:p>
          <a:p>
            <a:pPr marL="800100" lvl="1" indent="-400050">
              <a:buClr>
                <a:schemeClr val="tx1"/>
              </a:buClr>
              <a:buFont typeface="+mj-lt"/>
              <a:buAutoNum type="romanUcPeriod"/>
            </a:pPr>
            <a:r>
              <a:rPr lang="en-IN" dirty="0"/>
              <a:t>Quality/grade</a:t>
            </a:r>
          </a:p>
          <a:p>
            <a:pPr marL="800100" lvl="1" indent="-400050">
              <a:buClr>
                <a:schemeClr val="tx1"/>
              </a:buClr>
              <a:buFont typeface="+mj-lt"/>
              <a:buAutoNum type="romanUcPeriod"/>
            </a:pPr>
            <a:r>
              <a:rPr lang="en-IN" b="1" dirty="0">
                <a:solidFill>
                  <a:schemeClr val="bg1">
                    <a:lumMod val="95000"/>
                    <a:lumOff val="5000"/>
                  </a:schemeClr>
                </a:solidFill>
              </a:rPr>
              <a:t>Main thing </a:t>
            </a:r>
            <a:r>
              <a:rPr lang="en-IN" dirty="0"/>
              <a:t>- Distance &amp; transportation cost</a:t>
            </a:r>
          </a:p>
          <a:p>
            <a:pPr lvl="1" indent="-342900">
              <a:buClr>
                <a:schemeClr val="tx1"/>
              </a:buClr>
              <a:buFont typeface="+mj-lt"/>
              <a:buAutoNum type="arabicPeriod"/>
            </a:pPr>
            <a:r>
              <a:rPr lang="en-IN" dirty="0"/>
              <a:t>Availability/frequency.</a:t>
            </a:r>
            <a:endParaRPr lang="en-IN" dirty="0">
              <a:highlight>
                <a:srgbClr val="FFFF00"/>
              </a:highlight>
            </a:endParaRPr>
          </a:p>
          <a:p>
            <a:pPr marL="400050" lvl="1" indent="0">
              <a:buClr>
                <a:schemeClr val="tx1"/>
              </a:buClr>
              <a:buNone/>
            </a:pPr>
            <a:endParaRPr lang="en-IN" dirty="0">
              <a:highlight>
                <a:srgbClr val="FFFF00"/>
              </a:highlight>
            </a:endParaRPr>
          </a:p>
          <a:p>
            <a:pPr marL="400050" lvl="1" indent="0">
              <a:buClr>
                <a:schemeClr val="tx1"/>
              </a:buClr>
              <a:buNone/>
            </a:pPr>
            <a:r>
              <a:rPr lang="en-IN" dirty="0"/>
              <a:t>We can use </a:t>
            </a:r>
            <a:r>
              <a:rPr lang="en-IN" b="1" dirty="0"/>
              <a:t>CV(computer vision)</a:t>
            </a:r>
            <a:r>
              <a:rPr lang="en-IN" dirty="0"/>
              <a:t> to identify waste image so that it can produce more accurate results.</a:t>
            </a:r>
          </a:p>
          <a:p>
            <a:pPr marL="400050" lvl="1" indent="0">
              <a:buClr>
                <a:schemeClr val="tx1"/>
              </a:buClr>
              <a:buNone/>
            </a:pPr>
            <a:r>
              <a:rPr lang="en-IN" sz="2800" b="1" dirty="0">
                <a:solidFill>
                  <a:schemeClr val="bg1">
                    <a:lumMod val="95000"/>
                    <a:lumOff val="5000"/>
                  </a:schemeClr>
                </a:solidFill>
              </a:rPr>
              <a:t>Use case of ML- Mainly to build Matching Engine.</a:t>
            </a:r>
          </a:p>
          <a:p>
            <a:pPr marL="400050" lvl="1" indent="0">
              <a:buClr>
                <a:schemeClr val="tx1"/>
              </a:buClr>
              <a:buNone/>
            </a:pPr>
            <a:endParaRPr lang="en-IN" dirty="0"/>
          </a:p>
        </p:txBody>
      </p:sp>
    </p:spTree>
    <p:extLst>
      <p:ext uri="{BB962C8B-B14F-4D97-AF65-F5344CB8AC3E}">
        <p14:creationId xmlns:p14="http://schemas.microsoft.com/office/powerpoint/2010/main" val="773454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A774D-82DC-40C9-AD5A-3F069680F8A9}"/>
              </a:ext>
            </a:extLst>
          </p:cNvPr>
          <p:cNvSpPr>
            <a:spLocks noGrp="1"/>
          </p:cNvSpPr>
          <p:nvPr>
            <p:ph type="title"/>
          </p:nvPr>
        </p:nvSpPr>
        <p:spPr>
          <a:xfrm>
            <a:off x="646111" y="452717"/>
            <a:ext cx="9404723" cy="1401249"/>
          </a:xfrm>
        </p:spPr>
        <p:txBody>
          <a:bodyPr/>
          <a:lstStyle/>
          <a:p>
            <a:r>
              <a:rPr lang="en-US" b="1" i="0" u="none" strike="noStrike" baseline="0" dirty="0">
                <a:solidFill>
                  <a:schemeClr val="accent1"/>
                </a:solidFill>
                <a:latin typeface="Arial Rounded MT Bold" panose="020F0704030504030204" pitchFamily="34" charset="0"/>
              </a:rPr>
              <a:t>What type of AI/ML could be involved? </a:t>
            </a:r>
            <a:endParaRPr lang="en-IN" dirty="0">
              <a:solidFill>
                <a:schemeClr val="accent1"/>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F40FB9F4-0023-4EC0-8B99-CABD03DA35A2}"/>
              </a:ext>
            </a:extLst>
          </p:cNvPr>
          <p:cNvSpPr>
            <a:spLocks noGrp="1"/>
          </p:cNvSpPr>
          <p:nvPr>
            <p:ph idx="1"/>
          </p:nvPr>
        </p:nvSpPr>
        <p:spPr>
          <a:xfrm>
            <a:off x="763398" y="1853966"/>
            <a:ext cx="11157358" cy="4790115"/>
          </a:xfrm>
        </p:spPr>
        <p:txBody>
          <a:bodyPr/>
          <a:lstStyle/>
          <a:p>
            <a:r>
              <a:rPr lang="en-IN" dirty="0"/>
              <a:t>We can use </a:t>
            </a:r>
            <a:r>
              <a:rPr lang="en-IN" b="1" dirty="0">
                <a:solidFill>
                  <a:schemeClr val="tx2">
                    <a:lumMod val="10000"/>
                  </a:schemeClr>
                </a:solidFill>
              </a:rPr>
              <a:t>RAG model </a:t>
            </a:r>
            <a:r>
              <a:rPr lang="en-IN" dirty="0"/>
              <a:t>to overcome and solve the queries of users related to their products or wastes, etc.</a:t>
            </a:r>
          </a:p>
          <a:p>
            <a:endParaRPr lang="en-IN" dirty="0"/>
          </a:p>
          <a:p>
            <a:r>
              <a:rPr lang="en-IN" dirty="0"/>
              <a:t>We should use </a:t>
            </a:r>
            <a:r>
              <a:rPr lang="en-IN" b="1" dirty="0">
                <a:solidFill>
                  <a:schemeClr val="tx2">
                    <a:lumMod val="10000"/>
                  </a:schemeClr>
                </a:solidFill>
              </a:rPr>
              <a:t>recommendation engine </a:t>
            </a:r>
            <a:r>
              <a:rPr lang="en-IN" dirty="0"/>
              <a:t>which suggests top matches for user that is good for him or her.</a:t>
            </a:r>
          </a:p>
          <a:p>
            <a:endParaRPr lang="en-IN" dirty="0"/>
          </a:p>
          <a:p>
            <a:r>
              <a:rPr lang="en-IN" b="1" dirty="0">
                <a:solidFill>
                  <a:schemeClr val="tx2">
                    <a:lumMod val="10000"/>
                  </a:schemeClr>
                </a:solidFill>
              </a:rPr>
              <a:t>Reinforcement Learning </a:t>
            </a:r>
            <a:r>
              <a:rPr lang="en-IN" dirty="0"/>
              <a:t>– Model will automatically learn from their mistakes for particular user, to suggests and learn the reward and penalty based system.</a:t>
            </a:r>
          </a:p>
          <a:p>
            <a:endParaRPr lang="en-IN" dirty="0"/>
          </a:p>
          <a:p>
            <a:r>
              <a:rPr lang="en-IN" b="1" dirty="0">
                <a:solidFill>
                  <a:schemeClr val="tx2">
                    <a:lumMod val="10000"/>
                  </a:schemeClr>
                </a:solidFill>
              </a:rPr>
              <a:t>Computer Vision – </a:t>
            </a:r>
            <a:r>
              <a:rPr lang="en-IN" dirty="0"/>
              <a:t>We will be using computer vision to identify which waste is ?? So that we can identify particular waste and react to user.</a:t>
            </a:r>
          </a:p>
        </p:txBody>
      </p:sp>
    </p:spTree>
    <p:extLst>
      <p:ext uri="{BB962C8B-B14F-4D97-AF65-F5344CB8AC3E}">
        <p14:creationId xmlns:p14="http://schemas.microsoft.com/office/powerpoint/2010/main" val="1723308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D7AEA-50F7-422C-8EC1-D74A55967948}"/>
              </a:ext>
            </a:extLst>
          </p:cNvPr>
          <p:cNvSpPr>
            <a:spLocks noGrp="1"/>
          </p:cNvSpPr>
          <p:nvPr>
            <p:ph type="title"/>
          </p:nvPr>
        </p:nvSpPr>
        <p:spPr>
          <a:xfrm>
            <a:off x="318941" y="108770"/>
            <a:ext cx="9404723" cy="881132"/>
          </a:xfrm>
        </p:spPr>
        <p:txBody>
          <a:bodyPr/>
          <a:lstStyle/>
          <a:p>
            <a:r>
              <a:rPr lang="en-IN" b="1" dirty="0">
                <a:solidFill>
                  <a:srgbClr val="FF0000"/>
                </a:solidFill>
                <a:latin typeface="Arial Rounded MT Bold" panose="020F0704030504030204" pitchFamily="34" charset="0"/>
              </a:rPr>
              <a:t>What data would you need ??</a:t>
            </a:r>
          </a:p>
        </p:txBody>
      </p:sp>
      <p:sp>
        <p:nvSpPr>
          <p:cNvPr id="3" name="Content Placeholder 2">
            <a:extLst>
              <a:ext uri="{FF2B5EF4-FFF2-40B4-BE49-F238E27FC236}">
                <a16:creationId xmlns:a16="http://schemas.microsoft.com/office/drawing/2014/main" id="{1E2E0D65-E20B-4CA3-9CA5-EACCD95ECFD2}"/>
              </a:ext>
            </a:extLst>
          </p:cNvPr>
          <p:cNvSpPr>
            <a:spLocks noGrp="1"/>
          </p:cNvSpPr>
          <p:nvPr>
            <p:ph idx="1"/>
          </p:nvPr>
        </p:nvSpPr>
        <p:spPr>
          <a:xfrm>
            <a:off x="318941" y="1457300"/>
            <a:ext cx="11568259" cy="4305937"/>
          </a:xfrm>
        </p:spPr>
        <p:txBody>
          <a:bodyPr/>
          <a:lstStyle/>
          <a:p>
            <a:r>
              <a:rPr lang="en-IN" b="1" dirty="0">
                <a:solidFill>
                  <a:schemeClr val="bg1">
                    <a:lumMod val="95000"/>
                    <a:lumOff val="5000"/>
                  </a:schemeClr>
                </a:solidFill>
              </a:rPr>
              <a:t>Textual format </a:t>
            </a:r>
            <a:r>
              <a:rPr lang="en-IN" b="1" dirty="0"/>
              <a:t>– </a:t>
            </a:r>
            <a:r>
              <a:rPr lang="en-IN" dirty="0"/>
              <a:t>Waste type, description, quality/grade, buyer requirements.</a:t>
            </a:r>
          </a:p>
          <a:p>
            <a:endParaRPr lang="en-IN" b="1" dirty="0"/>
          </a:p>
          <a:p>
            <a:r>
              <a:rPr lang="en-IN" b="1" dirty="0">
                <a:solidFill>
                  <a:schemeClr val="bg1">
                    <a:lumMod val="95000"/>
                    <a:lumOff val="5000"/>
                  </a:schemeClr>
                </a:solidFill>
              </a:rPr>
              <a:t>Location Data </a:t>
            </a:r>
            <a:r>
              <a:rPr lang="en-IN" b="1" dirty="0"/>
              <a:t>- </a:t>
            </a:r>
            <a:r>
              <a:rPr lang="en-IN" dirty="0"/>
              <a:t>Industry/supplier location, distance.</a:t>
            </a:r>
          </a:p>
          <a:p>
            <a:endParaRPr lang="en-IN" b="1" dirty="0"/>
          </a:p>
          <a:p>
            <a:r>
              <a:rPr lang="en-IN" b="1" dirty="0">
                <a:solidFill>
                  <a:schemeClr val="bg1">
                    <a:lumMod val="95000"/>
                    <a:lumOff val="5000"/>
                  </a:schemeClr>
                </a:solidFill>
              </a:rPr>
              <a:t>Images</a:t>
            </a:r>
            <a:r>
              <a:rPr lang="en-IN" b="1" dirty="0"/>
              <a:t> - </a:t>
            </a:r>
            <a:r>
              <a:rPr lang="en-IN" dirty="0"/>
              <a:t>Images of waste/material</a:t>
            </a:r>
            <a:r>
              <a:rPr lang="en-IN" b="1" dirty="0"/>
              <a:t>.</a:t>
            </a:r>
          </a:p>
          <a:p>
            <a:endParaRPr lang="en-IN" b="1" dirty="0"/>
          </a:p>
          <a:p>
            <a:r>
              <a:rPr lang="en-IN" b="1" dirty="0">
                <a:solidFill>
                  <a:schemeClr val="bg1">
                    <a:lumMod val="95000"/>
                    <a:lumOff val="5000"/>
                  </a:schemeClr>
                </a:solidFill>
              </a:rPr>
              <a:t>User behaviour </a:t>
            </a:r>
            <a:r>
              <a:rPr lang="en-IN" dirty="0"/>
              <a:t>- </a:t>
            </a:r>
            <a:r>
              <a:rPr lang="en-US" dirty="0"/>
              <a:t>Searches, viewed listings, accepted/rejected matches, past transactions.</a:t>
            </a:r>
          </a:p>
          <a:p>
            <a:endParaRPr lang="en-US" b="1" dirty="0"/>
          </a:p>
          <a:p>
            <a:r>
              <a:rPr lang="en-US" b="1" dirty="0">
                <a:solidFill>
                  <a:schemeClr val="bg1">
                    <a:lumMod val="95000"/>
                    <a:lumOff val="5000"/>
                  </a:schemeClr>
                </a:solidFill>
              </a:rPr>
              <a:t>Video</a:t>
            </a:r>
            <a:r>
              <a:rPr lang="en-US" b="1" dirty="0"/>
              <a:t> </a:t>
            </a:r>
            <a:r>
              <a:rPr lang="en-US" dirty="0"/>
              <a:t>– Video of </a:t>
            </a:r>
            <a:r>
              <a:rPr lang="en-US" dirty="0" err="1"/>
              <a:t>waste,things</a:t>
            </a:r>
            <a:r>
              <a:rPr lang="en-US" dirty="0"/>
              <a:t> you want to buy or sell , Samples of the that thing</a:t>
            </a:r>
            <a:r>
              <a:rPr lang="en-US" b="1" dirty="0"/>
              <a:t>.</a:t>
            </a:r>
            <a:endParaRPr lang="en-IN" b="1" dirty="0"/>
          </a:p>
        </p:txBody>
      </p:sp>
    </p:spTree>
    <p:extLst>
      <p:ext uri="{BB962C8B-B14F-4D97-AF65-F5344CB8AC3E}">
        <p14:creationId xmlns:p14="http://schemas.microsoft.com/office/powerpoint/2010/main" val="3208009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BF6-F0AD-4E82-83D8-47504BE375E2}"/>
              </a:ext>
            </a:extLst>
          </p:cNvPr>
          <p:cNvSpPr>
            <a:spLocks noGrp="1"/>
          </p:cNvSpPr>
          <p:nvPr>
            <p:ph type="title"/>
          </p:nvPr>
        </p:nvSpPr>
        <p:spPr>
          <a:xfrm>
            <a:off x="486720" y="108769"/>
            <a:ext cx="9890462" cy="1334137"/>
          </a:xfrm>
        </p:spPr>
        <p:txBody>
          <a:bodyPr/>
          <a:lstStyle/>
          <a:p>
            <a:r>
              <a:rPr lang="en-US" b="1" i="0" u="none" strike="noStrike" baseline="0" dirty="0">
                <a:solidFill>
                  <a:srgbClr val="FF0000"/>
                </a:solidFill>
                <a:latin typeface="Arial Rounded MT Bold" panose="020F0704030504030204" pitchFamily="34" charset="0"/>
              </a:rPr>
              <a:t>Does something similar already exist? </a:t>
            </a:r>
            <a:endParaRPr lang="en-IN" dirty="0">
              <a:solidFill>
                <a:srgbClr val="FF0000"/>
              </a:solidFill>
              <a:latin typeface="Arial Rounded MT Bold" panose="020F0704030504030204" pitchFamily="34" charset="0"/>
            </a:endParaRPr>
          </a:p>
        </p:txBody>
      </p:sp>
      <p:graphicFrame>
        <p:nvGraphicFramePr>
          <p:cNvPr id="4" name="Table 4">
            <a:extLst>
              <a:ext uri="{FF2B5EF4-FFF2-40B4-BE49-F238E27FC236}">
                <a16:creationId xmlns:a16="http://schemas.microsoft.com/office/drawing/2014/main" id="{987949A2-1199-47B9-B773-EC4F94C744D6}"/>
              </a:ext>
            </a:extLst>
          </p:cNvPr>
          <p:cNvGraphicFramePr>
            <a:graphicFrameLocks noGrp="1"/>
          </p:cNvGraphicFramePr>
          <p:nvPr>
            <p:ph idx="1"/>
            <p:extLst>
              <p:ext uri="{D42A27DB-BD31-4B8C-83A1-F6EECF244321}">
                <p14:modId xmlns:p14="http://schemas.microsoft.com/office/powerpoint/2010/main" val="592080784"/>
              </p:ext>
            </p:extLst>
          </p:nvPr>
        </p:nvGraphicFramePr>
        <p:xfrm>
          <a:off x="612396" y="1543574"/>
          <a:ext cx="11383860" cy="4930210"/>
        </p:xfrm>
        <a:graphic>
          <a:graphicData uri="http://schemas.openxmlformats.org/drawingml/2006/table">
            <a:tbl>
              <a:tblPr firstRow="1" bandRow="1">
                <a:tableStyleId>{5C22544A-7EE6-4342-B048-85BDC9FD1C3A}</a:tableStyleId>
              </a:tblPr>
              <a:tblGrid>
                <a:gridCol w="2845965">
                  <a:extLst>
                    <a:ext uri="{9D8B030D-6E8A-4147-A177-3AD203B41FA5}">
                      <a16:colId xmlns:a16="http://schemas.microsoft.com/office/drawing/2014/main" val="4268907654"/>
                    </a:ext>
                  </a:extLst>
                </a:gridCol>
                <a:gridCol w="2845965">
                  <a:extLst>
                    <a:ext uri="{9D8B030D-6E8A-4147-A177-3AD203B41FA5}">
                      <a16:colId xmlns:a16="http://schemas.microsoft.com/office/drawing/2014/main" val="3823091487"/>
                    </a:ext>
                  </a:extLst>
                </a:gridCol>
                <a:gridCol w="2845965">
                  <a:extLst>
                    <a:ext uri="{9D8B030D-6E8A-4147-A177-3AD203B41FA5}">
                      <a16:colId xmlns:a16="http://schemas.microsoft.com/office/drawing/2014/main" val="3339087957"/>
                    </a:ext>
                  </a:extLst>
                </a:gridCol>
                <a:gridCol w="2845965">
                  <a:extLst>
                    <a:ext uri="{9D8B030D-6E8A-4147-A177-3AD203B41FA5}">
                      <a16:colId xmlns:a16="http://schemas.microsoft.com/office/drawing/2014/main" val="3445304223"/>
                    </a:ext>
                  </a:extLst>
                </a:gridCol>
              </a:tblGrid>
              <a:tr h="436228">
                <a:tc>
                  <a:txBody>
                    <a:bodyPr/>
                    <a:lstStyle/>
                    <a:p>
                      <a:r>
                        <a:rPr lang="en-IN" dirty="0"/>
                        <a:t>Basis</a:t>
                      </a:r>
                    </a:p>
                  </a:txBody>
                  <a:tcPr/>
                </a:tc>
                <a:tc>
                  <a:txBody>
                    <a:bodyPr/>
                    <a:lstStyle/>
                    <a:p>
                      <a:r>
                        <a:rPr lang="en-IN" dirty="0" err="1"/>
                        <a:t>Orbio</a:t>
                      </a:r>
                      <a:r>
                        <a:rPr lang="en-IN" dirty="0"/>
                        <a:t>(Portugal)</a:t>
                      </a:r>
                    </a:p>
                  </a:txBody>
                  <a:tcPr/>
                </a:tc>
                <a:tc>
                  <a:txBody>
                    <a:bodyPr/>
                    <a:lstStyle/>
                    <a:p>
                      <a:r>
                        <a:rPr lang="en-IN" dirty="0" err="1"/>
                        <a:t>Sfridoo</a:t>
                      </a:r>
                      <a:r>
                        <a:rPr lang="en-IN" dirty="0"/>
                        <a:t>(Italy)</a:t>
                      </a:r>
                    </a:p>
                  </a:txBody>
                  <a:tcPr/>
                </a:tc>
                <a:tc>
                  <a:txBody>
                    <a:bodyPr/>
                    <a:lstStyle/>
                    <a:p>
                      <a:r>
                        <a:rPr lang="en-IN" dirty="0"/>
                        <a:t>My product</a:t>
                      </a:r>
                    </a:p>
                  </a:txBody>
                  <a:tcPr/>
                </a:tc>
                <a:extLst>
                  <a:ext uri="{0D108BD9-81ED-4DB2-BD59-A6C34878D82A}">
                    <a16:rowId xmlns:a16="http://schemas.microsoft.com/office/drawing/2014/main" val="911829606"/>
                  </a:ext>
                </a:extLst>
              </a:tr>
              <a:tr h="634418">
                <a:tc>
                  <a:txBody>
                    <a:bodyPr/>
                    <a:lstStyle/>
                    <a:p>
                      <a:r>
                        <a:rPr lang="en-IN" dirty="0"/>
                        <a:t>Industry → Industry matching</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692007238"/>
                  </a:ext>
                </a:extLst>
              </a:tr>
              <a:tr h="442100">
                <a:tc>
                  <a:txBody>
                    <a:bodyPr/>
                    <a:lstStyle/>
                    <a:p>
                      <a:r>
                        <a:rPr lang="en-IN" dirty="0"/>
                        <a:t>Images of waste</a:t>
                      </a:r>
                    </a:p>
                  </a:txBody>
                  <a:tcPr/>
                </a:tc>
                <a:tc>
                  <a:txBody>
                    <a:bodyPr/>
                    <a:lstStyle/>
                    <a:p>
                      <a:r>
                        <a:rPr lang="en-IN" dirty="0"/>
                        <a:t>According to market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According to market</a:t>
                      </a:r>
                    </a:p>
                  </a:txBody>
                  <a:tcPr/>
                </a:tc>
                <a:tc>
                  <a:txBody>
                    <a:bodyPr/>
                    <a:lstStyle/>
                    <a:p>
                      <a:r>
                        <a:rPr lang="en-IN" dirty="0"/>
                        <a:t>     Very organised</a:t>
                      </a:r>
                    </a:p>
                  </a:txBody>
                  <a:tcPr/>
                </a:tc>
                <a:extLst>
                  <a:ext uri="{0D108BD9-81ED-4DB2-BD59-A6C34878D82A}">
                    <a16:rowId xmlns:a16="http://schemas.microsoft.com/office/drawing/2014/main" val="1234490050"/>
                  </a:ext>
                </a:extLst>
              </a:tr>
              <a:tr h="486561">
                <a:tc>
                  <a:txBody>
                    <a:bodyPr/>
                    <a:lstStyle/>
                    <a:p>
                      <a:r>
                        <a:rPr lang="en-IN" dirty="0"/>
                        <a:t>AI/ML matching score</a:t>
                      </a:r>
                    </a:p>
                  </a:txBody>
                  <a:tcPr/>
                </a:tc>
                <a:tc>
                  <a:txBody>
                    <a:bodyPr/>
                    <a:lstStyle/>
                    <a:p>
                      <a:r>
                        <a:rPr lang="en-IN" dirty="0"/>
                        <a:t>Not well developed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Not well developed</a:t>
                      </a:r>
                    </a:p>
                  </a:txBody>
                  <a:tcPr/>
                </a:tc>
                <a:tc>
                  <a:txBody>
                    <a:bodyPr/>
                    <a:lstStyle/>
                    <a:p>
                      <a:r>
                        <a:rPr lang="en-IN" dirty="0"/>
                        <a:t>Biggest advantage</a:t>
                      </a:r>
                    </a:p>
                  </a:txBody>
                  <a:tcPr/>
                </a:tc>
                <a:extLst>
                  <a:ext uri="{0D108BD9-81ED-4DB2-BD59-A6C34878D82A}">
                    <a16:rowId xmlns:a16="http://schemas.microsoft.com/office/drawing/2014/main" val="2543750782"/>
                  </a:ext>
                </a:extLst>
              </a:tr>
              <a:tr h="634418">
                <a:tc>
                  <a:txBody>
                    <a:bodyPr/>
                    <a:lstStyle/>
                    <a:p>
                      <a:r>
                        <a:rPr lang="en-IN" dirty="0"/>
                        <a:t>AI image-based waste classification</a:t>
                      </a:r>
                    </a:p>
                  </a:txBody>
                  <a:tcPr/>
                </a:tc>
                <a:tc>
                  <a:txBody>
                    <a:bodyPr/>
                    <a:lstStyle/>
                    <a:p>
                      <a:r>
                        <a:rPr lang="en-IN" dirty="0"/>
                        <a:t>Doesn’t have option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Doesn’t have option</a:t>
                      </a:r>
                    </a:p>
                    <a:p>
                      <a:endParaRPr lang="en-IN" dirty="0"/>
                    </a:p>
                  </a:txBody>
                  <a:tcPr/>
                </a:tc>
                <a:tc>
                  <a:txBody>
                    <a:bodyPr/>
                    <a:lstStyle/>
                    <a:p>
                      <a:r>
                        <a:rPr lang="en-IN" dirty="0"/>
                        <a:t>Another Advantage</a:t>
                      </a:r>
                    </a:p>
                  </a:txBody>
                  <a:tcPr/>
                </a:tc>
                <a:extLst>
                  <a:ext uri="{0D108BD9-81ED-4DB2-BD59-A6C34878D82A}">
                    <a16:rowId xmlns:a16="http://schemas.microsoft.com/office/drawing/2014/main" val="180852086"/>
                  </a:ext>
                </a:extLst>
              </a:tr>
              <a:tr h="542768">
                <a:tc>
                  <a:txBody>
                    <a:bodyPr/>
                    <a:lstStyle/>
                    <a:p>
                      <a:r>
                        <a:rPr lang="en-IN" dirty="0"/>
                        <a:t>Ragpicker participation</a:t>
                      </a:r>
                    </a:p>
                  </a:txBody>
                  <a:tcPr/>
                </a:tc>
                <a:tc>
                  <a:txBody>
                    <a:bodyPr/>
                    <a:lstStyle/>
                    <a:p>
                      <a:r>
                        <a:rPr lang="en-IN" dirty="0"/>
                        <a:t>Not that much level</a:t>
                      </a:r>
                    </a:p>
                  </a:txBody>
                  <a:tcPr/>
                </a:tc>
                <a:tc>
                  <a:txBody>
                    <a:bodyPr/>
                    <a:lstStyle/>
                    <a:p>
                      <a:r>
                        <a:rPr lang="en-IN" dirty="0"/>
                        <a:t>Same as </a:t>
                      </a:r>
                      <a:r>
                        <a:rPr lang="en-IN" dirty="0" err="1"/>
                        <a:t>orbio</a:t>
                      </a:r>
                      <a:endParaRPr lang="en-IN" dirty="0"/>
                    </a:p>
                  </a:txBody>
                  <a:tcPr/>
                </a:tc>
                <a:tc>
                  <a:txBody>
                    <a:bodyPr/>
                    <a:lstStyle/>
                    <a:p>
                      <a:r>
                        <a:rPr lang="en-IN" dirty="0"/>
                        <a:t>At a good level</a:t>
                      </a:r>
                    </a:p>
                  </a:txBody>
                  <a:tcPr/>
                </a:tc>
                <a:extLst>
                  <a:ext uri="{0D108BD9-81ED-4DB2-BD59-A6C34878D82A}">
                    <a16:rowId xmlns:a16="http://schemas.microsoft.com/office/drawing/2014/main" val="524424938"/>
                  </a:ext>
                </a:extLst>
              </a:tr>
              <a:tr h="553673">
                <a:tc>
                  <a:txBody>
                    <a:bodyPr/>
                    <a:lstStyle/>
                    <a:p>
                      <a:r>
                        <a:rPr lang="en-IN" dirty="0"/>
                        <a:t>India-focused</a:t>
                      </a:r>
                    </a:p>
                  </a:txBody>
                  <a:tcPr/>
                </a:tc>
                <a:tc>
                  <a:txBody>
                    <a:bodyPr/>
                    <a:lstStyle/>
                    <a:p>
                      <a:r>
                        <a:rPr lang="en-IN" dirty="0"/>
                        <a:t>           Not Focused</a:t>
                      </a:r>
                    </a:p>
                  </a:txBody>
                  <a:tcPr/>
                </a:tc>
                <a:tc>
                  <a:txBody>
                    <a:bodyPr/>
                    <a:lstStyle/>
                    <a:p>
                      <a:r>
                        <a:rPr lang="en-IN" dirty="0"/>
                        <a:t>        Not Focused</a:t>
                      </a:r>
                    </a:p>
                  </a:txBody>
                  <a:tcPr/>
                </a:tc>
                <a:tc>
                  <a:txBody>
                    <a:bodyPr/>
                    <a:lstStyle/>
                    <a:p>
                      <a:r>
                        <a:rPr lang="en-IN" dirty="0"/>
                        <a:t>          Very focused  </a:t>
                      </a:r>
                    </a:p>
                  </a:txBody>
                  <a:tcPr/>
                </a:tc>
                <a:extLst>
                  <a:ext uri="{0D108BD9-81ED-4DB2-BD59-A6C34878D82A}">
                    <a16:rowId xmlns:a16="http://schemas.microsoft.com/office/drawing/2014/main" val="2069025933"/>
                  </a:ext>
                </a:extLst>
              </a:tr>
              <a:tr h="634418">
                <a:tc>
                  <a:txBody>
                    <a:bodyPr/>
                    <a:lstStyle/>
                    <a:p>
                      <a:r>
                        <a:rPr lang="en-US" dirty="0"/>
                        <a:t>Automated ranking based on price + distance + quantity + quality</a:t>
                      </a:r>
                      <a:endParaRPr lang="en-IN" dirty="0"/>
                    </a:p>
                  </a:txBody>
                  <a:tcPr/>
                </a:tc>
                <a:tc>
                  <a:txBody>
                    <a:bodyPr/>
                    <a:lstStyle/>
                    <a:p>
                      <a:r>
                        <a:rPr lang="en-IN" dirty="0"/>
                        <a:t>           Not apparently </a:t>
                      </a:r>
                    </a:p>
                  </a:txBody>
                  <a:tcPr/>
                </a:tc>
                <a:tc>
                  <a:txBody>
                    <a:bodyPr/>
                    <a:lstStyle/>
                    <a:p>
                      <a:r>
                        <a:rPr lang="en-IN" dirty="0"/>
                        <a:t>        Not apparently </a:t>
                      </a:r>
                    </a:p>
                  </a:txBody>
                  <a:tcPr/>
                </a:tc>
                <a:tc>
                  <a:txBody>
                    <a:bodyPr/>
                    <a:lstStyle/>
                    <a:p>
                      <a:r>
                        <a:rPr lang="en-IN" dirty="0"/>
                        <a:t>          Big Opportunity</a:t>
                      </a:r>
                    </a:p>
                  </a:txBody>
                  <a:tcPr/>
                </a:tc>
                <a:extLst>
                  <a:ext uri="{0D108BD9-81ED-4DB2-BD59-A6C34878D82A}">
                    <a16:rowId xmlns:a16="http://schemas.microsoft.com/office/drawing/2014/main" val="1092091936"/>
                  </a:ext>
                </a:extLst>
              </a:tr>
            </a:tbl>
          </a:graphicData>
        </a:graphic>
      </p:graphicFrame>
      <p:pic>
        <p:nvPicPr>
          <p:cNvPr id="6" name="Graphic 5" descr="Checkmark with solid fill">
            <a:extLst>
              <a:ext uri="{FF2B5EF4-FFF2-40B4-BE49-F238E27FC236}">
                <a16:creationId xmlns:a16="http://schemas.microsoft.com/office/drawing/2014/main" id="{FE5C3DC6-4715-4B6B-BDEB-E6A3720C35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0668" y="1988192"/>
            <a:ext cx="648050" cy="648050"/>
          </a:xfrm>
          <a:prstGeom prst="rect">
            <a:avLst/>
          </a:prstGeom>
        </p:spPr>
      </p:pic>
      <p:pic>
        <p:nvPicPr>
          <p:cNvPr id="7" name="Graphic 6" descr="Checkmark with solid fill">
            <a:extLst>
              <a:ext uri="{FF2B5EF4-FFF2-40B4-BE49-F238E27FC236}">
                <a16:creationId xmlns:a16="http://schemas.microsoft.com/office/drawing/2014/main" id="{2593E0B0-7E7B-4F40-BE25-58D1CBF131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08272" y="1988192"/>
            <a:ext cx="648050" cy="648050"/>
          </a:xfrm>
          <a:prstGeom prst="rect">
            <a:avLst/>
          </a:prstGeom>
        </p:spPr>
      </p:pic>
      <p:pic>
        <p:nvPicPr>
          <p:cNvPr id="8" name="Graphic 7" descr="Checkmark with solid fill">
            <a:extLst>
              <a:ext uri="{FF2B5EF4-FFF2-40B4-BE49-F238E27FC236}">
                <a16:creationId xmlns:a16="http://schemas.microsoft.com/office/drawing/2014/main" id="{E7CD5BEE-C8D0-44A8-BAC1-DE294032C3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18584" y="1988192"/>
            <a:ext cx="648050" cy="648050"/>
          </a:xfrm>
          <a:prstGeom prst="rect">
            <a:avLst/>
          </a:prstGeom>
        </p:spPr>
      </p:pic>
      <p:pic>
        <p:nvPicPr>
          <p:cNvPr id="9" name="Graphic 8" descr="Checkmark with solid fill">
            <a:extLst>
              <a:ext uri="{FF2B5EF4-FFF2-40B4-BE49-F238E27FC236}">
                <a16:creationId xmlns:a16="http://schemas.microsoft.com/office/drawing/2014/main" id="{8219D80D-DBF7-4F62-A10F-1B95F39412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4031" y="2697064"/>
            <a:ext cx="250270" cy="250270"/>
          </a:xfrm>
          <a:prstGeom prst="rect">
            <a:avLst/>
          </a:prstGeom>
        </p:spPr>
      </p:pic>
      <p:pic>
        <p:nvPicPr>
          <p:cNvPr id="11" name="Graphic 10" descr="Close with solid fill">
            <a:extLst>
              <a:ext uri="{FF2B5EF4-FFF2-40B4-BE49-F238E27FC236}">
                <a16:creationId xmlns:a16="http://schemas.microsoft.com/office/drawing/2014/main" id="{2C82F914-A46B-4FB6-B1B2-FF5C52D86B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47754" y="4733489"/>
            <a:ext cx="383796" cy="383796"/>
          </a:xfrm>
          <a:prstGeom prst="rect">
            <a:avLst/>
          </a:prstGeom>
        </p:spPr>
      </p:pic>
      <p:pic>
        <p:nvPicPr>
          <p:cNvPr id="12" name="Graphic 11" descr="Close with solid fill">
            <a:extLst>
              <a:ext uri="{FF2B5EF4-FFF2-40B4-BE49-F238E27FC236}">
                <a16:creationId xmlns:a16="http://schemas.microsoft.com/office/drawing/2014/main" id="{D7CBAA87-D7C6-4337-800C-39032FBF81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16852" y="4733489"/>
            <a:ext cx="383796" cy="383796"/>
          </a:xfrm>
          <a:prstGeom prst="rect">
            <a:avLst/>
          </a:prstGeom>
        </p:spPr>
      </p:pic>
      <p:pic>
        <p:nvPicPr>
          <p:cNvPr id="13" name="Graphic 12" descr="Checkmark with solid fill">
            <a:extLst>
              <a:ext uri="{FF2B5EF4-FFF2-40B4-BE49-F238E27FC236}">
                <a16:creationId xmlns:a16="http://schemas.microsoft.com/office/drawing/2014/main" id="{D6EF9D05-7548-4F61-84C2-7CB468430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03216" y="4733489"/>
            <a:ext cx="442169" cy="442169"/>
          </a:xfrm>
          <a:prstGeom prst="rect">
            <a:avLst/>
          </a:prstGeom>
        </p:spPr>
      </p:pic>
      <p:pic>
        <p:nvPicPr>
          <p:cNvPr id="14" name="Graphic 13" descr="Close with solid fill">
            <a:extLst>
              <a:ext uri="{FF2B5EF4-FFF2-40B4-BE49-F238E27FC236}">
                <a16:creationId xmlns:a16="http://schemas.microsoft.com/office/drawing/2014/main" id="{018B67D5-B2A1-4A12-8DF4-79E0978D79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47754" y="5314426"/>
            <a:ext cx="383796" cy="383796"/>
          </a:xfrm>
          <a:prstGeom prst="rect">
            <a:avLst/>
          </a:prstGeom>
        </p:spPr>
      </p:pic>
      <p:pic>
        <p:nvPicPr>
          <p:cNvPr id="16" name="Graphic 15" descr="Close with solid fill">
            <a:extLst>
              <a:ext uri="{FF2B5EF4-FFF2-40B4-BE49-F238E27FC236}">
                <a16:creationId xmlns:a16="http://schemas.microsoft.com/office/drawing/2014/main" id="{BC04AB58-EFB6-46B6-979C-80D8BC9F73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16852" y="5314426"/>
            <a:ext cx="383796" cy="383796"/>
          </a:xfrm>
          <a:prstGeom prst="rect">
            <a:avLst/>
          </a:prstGeom>
        </p:spPr>
      </p:pic>
      <p:pic>
        <p:nvPicPr>
          <p:cNvPr id="17" name="Graphic 16" descr="Checkmark with solid fill">
            <a:extLst>
              <a:ext uri="{FF2B5EF4-FFF2-40B4-BE49-F238E27FC236}">
                <a16:creationId xmlns:a16="http://schemas.microsoft.com/office/drawing/2014/main" id="{090D53BC-6C9A-44D1-A460-27ECE69036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7874" y="5256053"/>
            <a:ext cx="442169" cy="442169"/>
          </a:xfrm>
          <a:prstGeom prst="rect">
            <a:avLst/>
          </a:prstGeom>
        </p:spPr>
      </p:pic>
    </p:spTree>
    <p:extLst>
      <p:ext uri="{BB962C8B-B14F-4D97-AF65-F5344CB8AC3E}">
        <p14:creationId xmlns:p14="http://schemas.microsoft.com/office/powerpoint/2010/main" val="362315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5000E-C4DB-4ADB-9343-F74F17C7975D}"/>
              </a:ext>
            </a:extLst>
          </p:cNvPr>
          <p:cNvSpPr>
            <a:spLocks noGrp="1"/>
          </p:cNvSpPr>
          <p:nvPr>
            <p:ph type="title"/>
          </p:nvPr>
        </p:nvSpPr>
        <p:spPr/>
        <p:txBody>
          <a:bodyPr/>
          <a:lstStyle/>
          <a:p>
            <a:r>
              <a:rPr lang="en-US" b="1" i="0" u="none" strike="noStrike" baseline="0" dirty="0">
                <a:solidFill>
                  <a:srgbClr val="FF0000"/>
                </a:solidFill>
                <a:latin typeface="Arial Rounded MT Bold" panose="020F0704030504030204" pitchFamily="34" charset="0"/>
              </a:rPr>
              <a:t>What's different about your idea? Your USP? </a:t>
            </a:r>
            <a:endParaRPr lang="en-IN" dirty="0">
              <a:solidFill>
                <a:srgbClr val="FF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C7393AE8-0BEE-4BEC-B2F6-5F43427867E6}"/>
              </a:ext>
            </a:extLst>
          </p:cNvPr>
          <p:cNvSpPr>
            <a:spLocks noGrp="1"/>
          </p:cNvSpPr>
          <p:nvPr>
            <p:ph idx="1"/>
          </p:nvPr>
        </p:nvSpPr>
        <p:spPr>
          <a:xfrm>
            <a:off x="813732" y="1853248"/>
            <a:ext cx="11098635" cy="3918378"/>
          </a:xfrm>
        </p:spPr>
        <p:txBody>
          <a:bodyPr/>
          <a:lstStyle/>
          <a:p>
            <a:r>
              <a:rPr lang="en-IN" dirty="0"/>
              <a:t>Finance Suggester – Like if any industry is producing 3 ton a waste in 5 days and suddenly waste drop to 850 kg in 5 days then we can suggest them some achievable objectives that they can do and make good profits</a:t>
            </a:r>
          </a:p>
          <a:p>
            <a:endParaRPr lang="en-IN" dirty="0"/>
          </a:p>
          <a:p>
            <a:r>
              <a:rPr lang="en-IN" dirty="0"/>
              <a:t>AI waste management system – In this system we are suggesting top matches for anyone of the user on factors - </a:t>
            </a:r>
            <a:r>
              <a:rPr lang="en-IN" dirty="0" err="1"/>
              <a:t>Distance,quantity,quality,more</a:t>
            </a:r>
            <a:r>
              <a:rPr lang="en-IN" dirty="0"/>
              <a:t> factors.</a:t>
            </a:r>
          </a:p>
          <a:p>
            <a:endParaRPr lang="en-IN" dirty="0"/>
          </a:p>
          <a:p>
            <a:r>
              <a:rPr lang="en-IN" dirty="0"/>
              <a:t>India Focused – Mainly there is not a clear model in India who is focused on this waste management problem, and we also know how much this waste management system is big concern for our country.</a:t>
            </a:r>
          </a:p>
        </p:txBody>
      </p:sp>
    </p:spTree>
    <p:extLst>
      <p:ext uri="{BB962C8B-B14F-4D97-AF65-F5344CB8AC3E}">
        <p14:creationId xmlns:p14="http://schemas.microsoft.com/office/powerpoint/2010/main" val="366790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A23E-4D69-4DB6-BE38-42D179F95910}"/>
              </a:ext>
            </a:extLst>
          </p:cNvPr>
          <p:cNvSpPr>
            <a:spLocks noGrp="1"/>
          </p:cNvSpPr>
          <p:nvPr>
            <p:ph type="title"/>
          </p:nvPr>
        </p:nvSpPr>
        <p:spPr>
          <a:xfrm>
            <a:off x="310445" y="156257"/>
            <a:ext cx="9007175" cy="885465"/>
          </a:xfrm>
        </p:spPr>
        <p:txBody>
          <a:bodyPr/>
          <a:lstStyle/>
          <a:p>
            <a:r>
              <a:rPr lang="en-US" sz="3600" b="1" i="0" u="none" strike="noStrike" baseline="0" dirty="0">
                <a:solidFill>
                  <a:srgbClr val="FF0000"/>
                </a:solidFill>
                <a:latin typeface="Arial Rounded MT Bold" panose="020F0704030504030204" pitchFamily="34" charset="0"/>
              </a:rPr>
              <a:t>What would the final product look like? </a:t>
            </a:r>
            <a:endParaRPr lang="en-IN" sz="3600" dirty="0">
              <a:solidFill>
                <a:srgbClr val="FF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241C1C61-5B48-418D-BECD-EFB8B5364A66}"/>
              </a:ext>
            </a:extLst>
          </p:cNvPr>
          <p:cNvSpPr>
            <a:spLocks noGrp="1"/>
          </p:cNvSpPr>
          <p:nvPr>
            <p:ph idx="1"/>
          </p:nvPr>
        </p:nvSpPr>
        <p:spPr>
          <a:xfrm>
            <a:off x="310445" y="1184335"/>
            <a:ext cx="11396941" cy="5275188"/>
          </a:xfrm>
        </p:spPr>
        <p:txBody>
          <a:bodyPr>
            <a:normAutofit fontScale="62500" lnSpcReduction="20000"/>
          </a:bodyPr>
          <a:lstStyle/>
          <a:p>
            <a:r>
              <a:rPr lang="en-US" dirty="0"/>
              <a:t>An AI-powered web platform with separate dashboards for waste suppliers and industries, backed by a Python matching/ML engine and database.</a:t>
            </a:r>
          </a:p>
          <a:p>
            <a:pPr marL="0" indent="0">
              <a:buNone/>
            </a:pPr>
            <a:r>
              <a:rPr lang="en-US" sz="1600" b="1" dirty="0"/>
              <a:t>Recommended architecture</a:t>
            </a:r>
          </a:p>
          <a:p>
            <a:pPr marL="0" indent="0">
              <a:buNone/>
            </a:pPr>
            <a:r>
              <a:rPr lang="en-US" sz="1600" b="1" dirty="0"/>
              <a:t>Frontend</a:t>
            </a:r>
          </a:p>
          <a:p>
            <a:r>
              <a:rPr lang="en-US" sz="1600" dirty="0"/>
              <a:t>- </a:t>
            </a:r>
            <a:r>
              <a:rPr lang="en-US" sz="1600" dirty="0" err="1"/>
              <a:t>Streamlit</a:t>
            </a:r>
            <a:r>
              <a:rPr lang="en-US" sz="1600" dirty="0"/>
              <a:t> initially</a:t>
            </a:r>
          </a:p>
          <a:p>
            <a:r>
              <a:rPr lang="en-US" sz="1600" dirty="0"/>
              <a:t>- Later React if you have enough time/team capability</a:t>
            </a:r>
          </a:p>
          <a:p>
            <a:pPr marL="0" indent="0">
              <a:buNone/>
            </a:pPr>
            <a:r>
              <a:rPr lang="en-US" sz="1600" b="1" dirty="0"/>
              <a:t>Backend</a:t>
            </a:r>
          </a:p>
          <a:p>
            <a:r>
              <a:rPr lang="en-US" sz="1600" dirty="0"/>
              <a:t>- Python</a:t>
            </a:r>
          </a:p>
          <a:p>
            <a:r>
              <a:rPr lang="en-US" sz="1600" dirty="0"/>
              <a:t>- </a:t>
            </a:r>
            <a:r>
              <a:rPr lang="en-US" sz="1600" dirty="0" err="1"/>
              <a:t>FastAPI</a:t>
            </a:r>
            <a:r>
              <a:rPr lang="en-US" sz="1600" dirty="0"/>
              <a:t> for APIs</a:t>
            </a:r>
          </a:p>
          <a:p>
            <a:pPr marL="0" indent="0">
              <a:buNone/>
            </a:pPr>
            <a:r>
              <a:rPr lang="en-US" sz="1600" b="1" dirty="0"/>
              <a:t>AI/ML</a:t>
            </a:r>
          </a:p>
          <a:p>
            <a:r>
              <a:rPr lang="en-US" sz="1600" dirty="0"/>
              <a:t>- Waste classification from image</a:t>
            </a:r>
          </a:p>
          <a:p>
            <a:r>
              <a:rPr lang="en-US" sz="1600" dirty="0"/>
              <a:t>- Matching/recommendation model</a:t>
            </a:r>
          </a:p>
          <a:p>
            <a:r>
              <a:rPr lang="en-US" sz="1600" dirty="0"/>
              <a:t>- Match score based on price, distance, quantity, quality, etc.</a:t>
            </a:r>
          </a:p>
          <a:p>
            <a:pPr marL="0" indent="0">
              <a:buNone/>
            </a:pPr>
            <a:r>
              <a:rPr lang="en-US" sz="1500" b="1" dirty="0"/>
              <a:t>Database</a:t>
            </a:r>
          </a:p>
          <a:p>
            <a:r>
              <a:rPr lang="en-US" sz="1800" dirty="0"/>
              <a:t>- MySQL initially — you already know it</a:t>
            </a:r>
          </a:p>
          <a:p>
            <a:r>
              <a:rPr lang="en-US" sz="1800" dirty="0"/>
              <a:t>- PostgreSQL/</a:t>
            </a:r>
            <a:r>
              <a:rPr lang="en-US" sz="1800" dirty="0" err="1"/>
              <a:t>Supabase</a:t>
            </a:r>
            <a:r>
              <a:rPr lang="en-US" sz="1800" dirty="0"/>
              <a:t> later if needed</a:t>
            </a:r>
          </a:p>
          <a:p>
            <a:r>
              <a:rPr lang="en-US" sz="1800" dirty="0"/>
              <a:t>- Deployment</a:t>
            </a:r>
          </a:p>
          <a:p>
            <a:r>
              <a:rPr lang="en-US" sz="1800" dirty="0"/>
              <a:t>- Deploy the MVP online so judges can actually use it.</a:t>
            </a:r>
          </a:p>
          <a:p>
            <a:pPr marL="0" indent="0">
              <a:buNone/>
            </a:pPr>
            <a:endParaRPr lang="en-IN" dirty="0"/>
          </a:p>
          <a:p>
            <a:pPr marL="0" indent="0">
              <a:buNone/>
            </a:pPr>
            <a:r>
              <a:rPr lang="en-IN" sz="2900" dirty="0"/>
              <a:t>Flow of the Model – Main Core Engine -&gt; Dashboard -&gt; Further API integration if needed.</a:t>
            </a:r>
          </a:p>
          <a:p>
            <a:pPr marL="0" indent="0">
              <a:buNone/>
            </a:pPr>
            <a:endParaRPr lang="en-IN" dirty="0"/>
          </a:p>
          <a:p>
            <a:endParaRPr lang="en-IN" dirty="0"/>
          </a:p>
        </p:txBody>
      </p:sp>
    </p:spTree>
    <p:extLst>
      <p:ext uri="{BB962C8B-B14F-4D97-AF65-F5344CB8AC3E}">
        <p14:creationId xmlns:p14="http://schemas.microsoft.com/office/powerpoint/2010/main" val="614419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EFDE-26D3-469B-9A94-DD684349226F}"/>
              </a:ext>
            </a:extLst>
          </p:cNvPr>
          <p:cNvSpPr>
            <a:spLocks noGrp="1"/>
          </p:cNvSpPr>
          <p:nvPr>
            <p:ph type="title"/>
          </p:nvPr>
        </p:nvSpPr>
        <p:spPr>
          <a:xfrm>
            <a:off x="193106" y="133936"/>
            <a:ext cx="9404723" cy="1400530"/>
          </a:xfrm>
        </p:spPr>
        <p:txBody>
          <a:bodyPr/>
          <a:lstStyle/>
          <a:p>
            <a:r>
              <a:rPr lang="en-US" sz="4000" b="1" i="0" u="none" strike="noStrike" baseline="0" dirty="0">
                <a:solidFill>
                  <a:srgbClr val="FF0000"/>
                </a:solidFill>
                <a:latin typeface="Arial Rounded MT Bold" panose="020F0704030504030204" pitchFamily="34" charset="0"/>
              </a:rPr>
              <a:t>Challenges / Things you're unsure about </a:t>
            </a:r>
            <a:endParaRPr lang="en-IN" sz="4000" dirty="0">
              <a:solidFill>
                <a:srgbClr val="FF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438D5741-26F7-4717-BC71-19F8683A80C2}"/>
              </a:ext>
            </a:extLst>
          </p:cNvPr>
          <p:cNvSpPr>
            <a:spLocks noGrp="1"/>
          </p:cNvSpPr>
          <p:nvPr>
            <p:ph idx="1"/>
          </p:nvPr>
        </p:nvSpPr>
        <p:spPr>
          <a:xfrm>
            <a:off x="327172" y="2055304"/>
            <a:ext cx="11671722" cy="3657600"/>
          </a:xfrm>
        </p:spPr>
        <p:txBody>
          <a:bodyPr/>
          <a:lstStyle/>
          <a:p>
            <a:r>
              <a:rPr lang="en-IN" b="1" dirty="0">
                <a:solidFill>
                  <a:srgbClr val="FFFF00"/>
                </a:solidFill>
              </a:rPr>
              <a:t>Data Availability </a:t>
            </a:r>
            <a:r>
              <a:rPr lang="en-IN" dirty="0"/>
              <a:t>– Its not that much easy task to find data for each ragpicker or industry that which wastes they are producing and industries whom they want.</a:t>
            </a:r>
          </a:p>
          <a:p>
            <a:endParaRPr lang="en-IN" dirty="0"/>
          </a:p>
          <a:p>
            <a:r>
              <a:rPr lang="en-IN" b="1" dirty="0">
                <a:solidFill>
                  <a:srgbClr val="FFFF00"/>
                </a:solidFill>
              </a:rPr>
              <a:t>Trust</a:t>
            </a:r>
            <a:r>
              <a:rPr lang="en-IN" dirty="0"/>
              <a:t> – Biggest concern is to build trust because if industry A is working on a very secretive product they don’t to leak their industry waste also because through which it could leak many evidences.</a:t>
            </a:r>
          </a:p>
          <a:p>
            <a:endParaRPr lang="en-IN" dirty="0"/>
          </a:p>
          <a:p>
            <a:r>
              <a:rPr lang="en-IN" b="1" dirty="0">
                <a:solidFill>
                  <a:srgbClr val="FFFF00"/>
                </a:solidFill>
              </a:rPr>
              <a:t>Logistics</a:t>
            </a:r>
            <a:r>
              <a:rPr lang="en-IN" dirty="0"/>
              <a:t> - </a:t>
            </a:r>
            <a:r>
              <a:rPr lang="en-US" dirty="0"/>
              <a:t>Even when a suitable match is found, transportation cost and distance can make the transaction economically unviable.</a:t>
            </a:r>
          </a:p>
          <a:p>
            <a:endParaRPr lang="en-IN" dirty="0"/>
          </a:p>
        </p:txBody>
      </p:sp>
    </p:spTree>
    <p:extLst>
      <p:ext uri="{BB962C8B-B14F-4D97-AF65-F5344CB8AC3E}">
        <p14:creationId xmlns:p14="http://schemas.microsoft.com/office/powerpoint/2010/main" val="1959954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2CE91-3BED-43C5-AC34-51EC31D2E612}"/>
              </a:ext>
            </a:extLst>
          </p:cNvPr>
          <p:cNvSpPr>
            <a:spLocks noGrp="1"/>
          </p:cNvSpPr>
          <p:nvPr>
            <p:ph type="title"/>
          </p:nvPr>
        </p:nvSpPr>
        <p:spPr>
          <a:xfrm>
            <a:off x="646111" y="452717"/>
            <a:ext cx="9404723" cy="839187"/>
          </a:xfrm>
        </p:spPr>
        <p:txBody>
          <a:bodyPr/>
          <a:lstStyle/>
          <a:p>
            <a:r>
              <a:rPr lang="en-IN" i="0" u="none" strike="noStrike" baseline="0" dirty="0">
                <a:solidFill>
                  <a:srgbClr val="FF0000"/>
                </a:solidFill>
                <a:latin typeface="Arial Rounded MT Bold" panose="020F0704030504030204" pitchFamily="34" charset="0"/>
              </a:rPr>
              <a:t>Sources / Research </a:t>
            </a:r>
            <a:endParaRPr lang="en-IN" dirty="0">
              <a:solidFill>
                <a:srgbClr val="FF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A5151BEC-3DC8-450A-A9E8-9129F9BD4ED0}"/>
              </a:ext>
            </a:extLst>
          </p:cNvPr>
          <p:cNvSpPr>
            <a:spLocks noGrp="1"/>
          </p:cNvSpPr>
          <p:nvPr>
            <p:ph idx="1"/>
          </p:nvPr>
        </p:nvSpPr>
        <p:spPr>
          <a:xfrm>
            <a:off x="822122" y="1375794"/>
            <a:ext cx="10880520" cy="4622334"/>
          </a:xfrm>
        </p:spPr>
        <p:txBody>
          <a:bodyPr/>
          <a:lstStyle/>
          <a:p>
            <a:r>
              <a:rPr lang="en-IN" dirty="0"/>
              <a:t>Environmental Hacks - </a:t>
            </a:r>
            <a:r>
              <a:rPr lang="en-IN" dirty="0">
                <a:hlinkClick r:id="rId2"/>
              </a:rPr>
              <a:t>https://www.wemakedevs.org/aws/env</a:t>
            </a:r>
            <a:endParaRPr lang="en-IN" dirty="0"/>
          </a:p>
          <a:p>
            <a:endParaRPr lang="en-IN" dirty="0"/>
          </a:p>
          <a:p>
            <a:r>
              <a:rPr lang="en-IN" dirty="0" err="1"/>
              <a:t>Sfridoo</a:t>
            </a:r>
            <a:r>
              <a:rPr lang="en-IN" dirty="0"/>
              <a:t> - </a:t>
            </a:r>
            <a:r>
              <a:rPr lang="en-IN" dirty="0">
                <a:hlinkClick r:id="rId3"/>
              </a:rPr>
              <a:t>https://www.sfridoo.com/en/</a:t>
            </a:r>
            <a:endParaRPr lang="en-IN" dirty="0"/>
          </a:p>
          <a:p>
            <a:endParaRPr lang="en-IN" dirty="0"/>
          </a:p>
          <a:p>
            <a:r>
              <a:rPr lang="en-IN" dirty="0"/>
              <a:t>Link LABS - </a:t>
            </a:r>
            <a:r>
              <a:rPr lang="en-IN" dirty="0">
                <a:hlinkClick r:id="rId4"/>
              </a:rPr>
              <a:t>https://www.link-labs.com/blog/the-biggest-problems-with-waste-management-and-how-to-overcome-them</a:t>
            </a:r>
            <a:br>
              <a:rPr lang="en-IN" dirty="0"/>
            </a:br>
            <a:endParaRPr lang="en-IN" dirty="0"/>
          </a:p>
          <a:p>
            <a:r>
              <a:rPr lang="en-IN" dirty="0" err="1"/>
              <a:t>Shaktiplasticindsutry</a:t>
            </a:r>
            <a:r>
              <a:rPr lang="en-IN" dirty="0"/>
              <a:t> - </a:t>
            </a:r>
            <a:r>
              <a:rPr lang="en-IN" dirty="0">
                <a:hlinkClick r:id="rId5"/>
              </a:rPr>
              <a:t>https://www.shaktiplasticinds.com/the-challenges-of-waste-management-in-india/</a:t>
            </a:r>
            <a:endParaRPr lang="en-IN" dirty="0"/>
          </a:p>
          <a:p>
            <a:endParaRPr lang="en-IN" dirty="0"/>
          </a:p>
          <a:p>
            <a:r>
              <a:rPr lang="en-IN" dirty="0"/>
              <a:t>Anthropic – Claude LLM</a:t>
            </a:r>
          </a:p>
        </p:txBody>
      </p:sp>
    </p:spTree>
    <p:extLst>
      <p:ext uri="{BB962C8B-B14F-4D97-AF65-F5344CB8AC3E}">
        <p14:creationId xmlns:p14="http://schemas.microsoft.com/office/powerpoint/2010/main" val="1501309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1985</TotalTime>
  <Words>1348</Words>
  <Application>Microsoft Office PowerPoint</Application>
  <PresentationFormat>Widescreen</PresentationFormat>
  <Paragraphs>133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Rounded MT Bold</vt:lpstr>
      <vt:lpstr>Bahnschrift SemiBold</vt:lpstr>
      <vt:lpstr>Century Gothic</vt:lpstr>
      <vt:lpstr>Wingdings 3</vt:lpstr>
      <vt:lpstr>Ion</vt:lpstr>
      <vt:lpstr>Product Name-                     Wate-to-thing</vt:lpstr>
      <vt:lpstr>What is Problem ??</vt:lpstr>
      <vt:lpstr>Who faces the problem ??</vt:lpstr>
      <vt:lpstr>Why this problem need to solve ??</vt:lpstr>
      <vt:lpstr>Solution - </vt:lpstr>
      <vt:lpstr>Where does AI/ML comes ??</vt:lpstr>
      <vt:lpstr>What type of AI/ML could be involved? </vt:lpstr>
      <vt:lpstr>What data would you need ??</vt:lpstr>
      <vt:lpstr>Does something similar already exist? </vt:lpstr>
      <vt:lpstr>What's different about your idea? Your USP? </vt:lpstr>
      <vt:lpstr>What would the final product look like? </vt:lpstr>
      <vt:lpstr>Challenges / Things you're unsure about </vt:lpstr>
      <vt:lpstr>Sources / Research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Name-                     Wate-to-thing</dc:title>
  <dc:creator>Aksh Sharma</dc:creator>
  <cp:lastModifiedBy>Aksh Sharma</cp:lastModifiedBy>
  <cp:revision>4</cp:revision>
  <dcterms:created xsi:type="dcterms:W3CDTF">2026-10-06T10:05:42Z</dcterms:created>
  <dcterms:modified xsi:type="dcterms:W3CDTF">2026-10-10T16:04:41Z</dcterms:modified>
</cp:coreProperties>
</file>