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2" r:id="rId5"/>
    <p:sldId id="275" r:id="rId6"/>
    <p:sldId id="276" r:id="rId7"/>
    <p:sldId id="277" r:id="rId8"/>
    <p:sldId id="278" r:id="rId9"/>
    <p:sldId id="279" r:id="rId10"/>
    <p:sldId id="294" r:id="rId11"/>
    <p:sldId id="281" r:id="rId12"/>
    <p:sldId id="282" r:id="rId13"/>
    <p:sldId id="283" r:id="rId14"/>
    <p:sldId id="284" r:id="rId15"/>
    <p:sldId id="285" r:id="rId16"/>
    <p:sldId id="293" r:id="rId17"/>
    <p:sldId id="288" r:id="rId18"/>
    <p:sldId id="28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5634"/>
  </p:normalViewPr>
  <p:slideViewPr>
    <p:cSldViewPr snapToGrid="0" showGuides="1">
      <p:cViewPr varScale="1">
        <p:scale>
          <a:sx n="88" d="100"/>
          <a:sy n="88" d="100"/>
        </p:scale>
        <p:origin x="210" y="5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77465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05249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20645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84497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245785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889056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im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sn.com/en-gb/news/other/would-you-pay-30k-to-become-an-influencer-uk-universities-are-now-offering-content-creator-degrees/ar-AA2decP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allpaperflare.com/social-media-site-memes-collage-vintage-twitter-facebook-text-wallpaper-jgc/download/1360x76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en.wikipedia.org/wiki/50_YouTubers_Fight_for_$1,000,000" TargetMode="Externa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hyperlink" Target="https://www.wallpaperflare.com/money-bitcoin-cryptocurrency-gold-metal-flaming-heat-temperature-wallpaper-pmjkk/download/3840x2160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www.marconomy.de/instagram-trends-und-tipps-fuer-marketer-a-818e7878cfca405cf30e42b7faeaa996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jpeg"/><Relationship Id="rId5" Type="http://schemas.openxmlformats.org/officeDocument/2006/relationships/hyperlink" Target="https://parkscommunity.org.uk/news/can-you-help-us-with-some-feedback/" TargetMode="Externa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sv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evdosvid.blog/2024/01/09/mastering-aws-api-gateway-v2-http-and-aws-lambda-with-terrafor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CreatorPilot</a:t>
            </a:r>
            <a:br>
              <a:rPr lang="en-IN" dirty="0"/>
            </a:br>
            <a:r>
              <a:rPr lang="en-IN" sz="1800" b="0" dirty="0"/>
              <a:t>An AI Co-Pilot &amp; Pre-Director Engine that transforms raw footage into trend-aligned, optimized social content.</a:t>
            </a:r>
            <a:endParaRPr lang="en-US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Presenter Sneha Singh </a:t>
            </a: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2036B4F-E744-9EFE-3CCB-DBA9A8A3D8B3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1016" r="21016"/>
          <a:stretch>
            <a:fillRect/>
          </a:stretch>
        </p:blipFill>
        <p:spPr>
          <a:xfrm>
            <a:off x="6977063" y="1006475"/>
            <a:ext cx="4405312" cy="5067300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The Post-Production Friction &amp; Uncertainty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IN" b="1" dirty="0"/>
              <a:t>Time Imbalance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IN" b="1" dirty="0"/>
              <a:t>Content Self-Doubt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IN" b="1" dirty="0"/>
              <a:t>Distribution Blindness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IN" sz="1200" dirty="0"/>
              <a:t>Creators spend 80% of time editing, captions, and guessing trends vs 20% filming</a:t>
            </a:r>
            <a:endParaRPr lang="en-US" sz="12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75472" y="4629745"/>
            <a:ext cx="1913128" cy="1075689"/>
          </a:xfrm>
        </p:spPr>
        <p:txBody>
          <a:bodyPr/>
          <a:lstStyle/>
          <a:p>
            <a:r>
              <a:rPr lang="en-IN" sz="1200" dirty="0"/>
              <a:t>No objective feedback before posting on hook quality, pacing, or visual appeal.</a:t>
            </a:r>
            <a:endParaRPr lang="en-US" sz="1200" dirty="0"/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Presentation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D0CF6-7418-9349-F7A8-045EA96B2D0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Who Experiences This Pain Point?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3435545"/>
            <a:ext cx="4369272" cy="3110873"/>
          </a:xfrm>
        </p:spPr>
        <p:txBody>
          <a:bodyPr/>
          <a:lstStyle/>
          <a:p>
            <a:br>
              <a:rPr lang="en-IN" sz="1100" b="1" dirty="0"/>
            </a:br>
            <a:r>
              <a:rPr lang="en-IN" sz="1100" b="1" dirty="0"/>
              <a:t>Short-Form Creators</a:t>
            </a:r>
          </a:p>
          <a:p>
            <a:r>
              <a:rPr lang="en-IN" sz="1100" dirty="0"/>
              <a:t>Reels, Shorts, and TikTok creators struggling to keep up with rapid 48-hour trend decays.</a:t>
            </a:r>
          </a:p>
          <a:p>
            <a:r>
              <a:rPr lang="en-IN" sz="1100" b="1" dirty="0"/>
              <a:t>Solo YouTubers</a:t>
            </a:r>
          </a:p>
          <a:p>
            <a:r>
              <a:rPr lang="en-IN" sz="1100" dirty="0"/>
              <a:t>One-person teams overwhelmed by video editing, thumbnail generation, and SEO copy.</a:t>
            </a:r>
            <a:br>
              <a:rPr lang="en-IN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460268" y="4614958"/>
            <a:ext cx="4139164" cy="1968088"/>
          </a:xfrm>
        </p:spPr>
        <p:txBody>
          <a:bodyPr/>
          <a:lstStyle/>
          <a:p>
            <a:r>
              <a:rPr lang="en-IN" b="1" dirty="0"/>
              <a:t>Student &amp; Beginner Creators</a:t>
            </a:r>
          </a:p>
          <a:p>
            <a:endParaRPr lang="en-IN" b="1" dirty="0"/>
          </a:p>
          <a:p>
            <a:r>
              <a:rPr lang="en-IN" dirty="0"/>
              <a:t>New creators who lack editing expertise, audience insights, and professional critique.</a:t>
            </a:r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D54EEDE-ADE1-DEF6-CBEC-DAAECA58EBA5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5057" r="25057"/>
          <a:stretch>
            <a:fillRect/>
          </a:stretch>
        </p:blipFill>
        <p:spPr>
          <a:xfrm>
            <a:off x="5745001" y="-6545"/>
            <a:ext cx="6446999" cy="6858000"/>
          </a:xfrm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Solve This Problem Now?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IN" sz="1050" dirty="0"/>
              <a:t>Saving creators 5 hours per week on post-production directly unlocks higher output and prevents creator burnout.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819AC-20B4-7062-1EBD-D1C051F63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475" y="4792436"/>
            <a:ext cx="6291257" cy="1236383"/>
          </a:xfrm>
          <a:prstGeom prst="rect">
            <a:avLst/>
          </a:prstGeo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52455100-97BD-AF55-03BD-E785BCDCA4C5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5392" r="25392"/>
          <a:stretch>
            <a:fillRect/>
          </a:stretch>
        </p:blipFill>
        <p:spPr/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A42956-AE03-3F7D-30EE-C436C7ED93CB}"/>
              </a:ext>
            </a:extLst>
          </p:cNvPr>
          <p:cNvSpPr txBox="1"/>
          <p:nvPr/>
        </p:nvSpPr>
        <p:spPr>
          <a:xfrm>
            <a:off x="581710" y="6338744"/>
            <a:ext cx="5045662" cy="2308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en.wikipedia.org/wiki/50_YouTubers_Fight_for_$1,000,000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CreatorPilot: Web App + AI Director API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BB8CF8C3-E2F2-7961-4A27-C1B61E1DE8FD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87829" y="1677410"/>
            <a:ext cx="5378486" cy="4100857"/>
          </a:xfrm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9F1327-FD88-9392-236C-CAB3EA393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9" y="1677410"/>
            <a:ext cx="5532134" cy="410085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C5A963B-49DC-7DE4-C188-67ED729E1BD8}"/>
              </a:ext>
            </a:extLst>
          </p:cNvPr>
          <p:cNvSpPr txBox="1"/>
          <p:nvPr/>
        </p:nvSpPr>
        <p:spPr>
          <a:xfrm>
            <a:off x="6983807" y="1976086"/>
            <a:ext cx="4019678" cy="424731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br>
              <a:rPr lang="en-IN" b="1" dirty="0"/>
            </a:br>
            <a:r>
              <a:rPr lang="en-IN" b="1" dirty="0"/>
              <a:t>Objective Content Critique</a:t>
            </a:r>
          </a:p>
          <a:p>
            <a:r>
              <a:rPr lang="en-IN" dirty="0"/>
              <a:t>Evaluates visual hook, audio clarity, and pacing before publishing.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Niche Trend Matching</a:t>
            </a:r>
          </a:p>
          <a:p>
            <a:r>
              <a:rPr lang="en-IN" dirty="0"/>
              <a:t>Filters audio &amp; topic trends specifically for your audience demographic.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Humanized Custom Persona</a:t>
            </a:r>
          </a:p>
          <a:p>
            <a:r>
              <a:rPr lang="en-IN" dirty="0"/>
              <a:t>Auto-generates descriptions and covers tuned to your unique brand voice.</a:t>
            </a:r>
          </a:p>
          <a:p>
            <a:br>
              <a:rPr lang="en-IN" dirty="0"/>
            </a:b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Does AI/ML Drive Value?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DA115D-AFBD-3424-3012-0D4D17362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24" y="2252247"/>
            <a:ext cx="8971515" cy="196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&amp; Machine Learning Tech Stack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7BFEB-D1B1-415B-A709-FAF73E890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162" y="3925540"/>
            <a:ext cx="7410504" cy="195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446CC6CC-33D7-4181-9969-72896FDB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Data Pipeline Requirements</a:t>
            </a:r>
          </a:p>
        </p:txBody>
      </p:sp>
      <p:pic>
        <p:nvPicPr>
          <p:cNvPr id="50" name="Picture Placeholder 49">
            <a:extLst>
              <a:ext uri="{FF2B5EF4-FFF2-40B4-BE49-F238E27FC236}">
                <a16:creationId xmlns:a16="http://schemas.microsoft.com/office/drawing/2014/main" id="{52ECE175-5E87-834C-44F3-F693DC10A900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3819" r="13819"/>
          <a:stretch>
            <a:fillRect/>
          </a:stretch>
        </p:blipFill>
        <p:spPr>
          <a:xfrm>
            <a:off x="7133388" y="1860879"/>
            <a:ext cx="4637127" cy="4116474"/>
          </a:xfr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9DAC3D8-3B51-0AA4-E897-D5021D3BC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582" y="1813479"/>
            <a:ext cx="5181107" cy="416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8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55">
            <a:extLst>
              <a:ext uri="{FF2B5EF4-FFF2-40B4-BE49-F238E27FC236}">
                <a16:creationId xmlns:a16="http://schemas.microsoft.com/office/drawing/2014/main" id="{19576725-5FD5-0E5D-4FD3-2E35020D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" y="1614146"/>
            <a:ext cx="9241980" cy="3629708"/>
          </a:xfrm>
        </p:spPr>
        <p:txBody>
          <a:bodyPr/>
          <a:lstStyle/>
          <a:p>
            <a:r>
              <a:rPr lang="en-IN" dirty="0"/>
              <a:t>Existing Landscape vs. Market Gaps</a:t>
            </a:r>
            <a:br>
              <a:rPr lang="en-IN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F816F-E557-EF17-FA3D-67F4F647CA3C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DE7AF3D6-0106-CD28-9985-7B17CD828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93" y="2539178"/>
            <a:ext cx="8448537" cy="2382625"/>
          </a:xfrm>
          <a:prstGeom prst="rect">
            <a:avLst/>
          </a:prstGeom>
        </p:spPr>
      </p:pic>
      <p:pic>
        <p:nvPicPr>
          <p:cNvPr id="62" name="Picture Placeholder 61">
            <a:extLst>
              <a:ext uri="{FF2B5EF4-FFF2-40B4-BE49-F238E27FC236}">
                <a16:creationId xmlns:a16="http://schemas.microsoft.com/office/drawing/2014/main" id="{97AAE506-74BB-CC5F-79AD-52E77BDBAA67}"/>
              </a:ext>
            </a:extLst>
          </p:cNvPr>
          <p:cNvPicPr>
            <a:picLocks noGrp="1" noChangeAspect="1"/>
          </p:cNvPicPr>
          <p:nvPr>
            <p:ph type="pic" sz="quarter" idx="72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8420" r="28420"/>
          <a:stretch>
            <a:fillRect/>
          </a:stretch>
        </p:blipFill>
        <p:spPr>
          <a:xfrm>
            <a:off x="8732827" y="927430"/>
            <a:ext cx="2786158" cy="3223496"/>
          </a:xfrm>
        </p:spPr>
      </p:pic>
      <p:pic>
        <p:nvPicPr>
          <p:cNvPr id="67" name="Picture Placeholder 66">
            <a:extLst>
              <a:ext uri="{FF2B5EF4-FFF2-40B4-BE49-F238E27FC236}">
                <a16:creationId xmlns:a16="http://schemas.microsoft.com/office/drawing/2014/main" id="{3696E07A-0B40-E9E7-7092-77595CD15456}"/>
              </a:ext>
            </a:extLst>
          </p:cNvPr>
          <p:cNvPicPr>
            <a:picLocks noGrp="1" noChangeAspect="1"/>
          </p:cNvPicPr>
          <p:nvPr>
            <p:ph type="pic" sz="quarter" idx="73"/>
          </p:nvPr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6784" r="6784"/>
          <a:stretch>
            <a:fillRect/>
          </a:stretch>
        </p:blipFill>
        <p:spPr>
          <a:xfrm>
            <a:off x="8042654" y="3748900"/>
            <a:ext cx="1886871" cy="2183049"/>
          </a:xfrm>
        </p:spPr>
      </p:pic>
    </p:spTree>
    <p:extLst>
      <p:ext uri="{BB962C8B-B14F-4D97-AF65-F5344CB8AC3E}">
        <p14:creationId xmlns:p14="http://schemas.microsoft.com/office/powerpoint/2010/main" val="3157109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>
            <a:extLst>
              <a:ext uri="{FF2B5EF4-FFF2-40B4-BE49-F238E27FC236}">
                <a16:creationId xmlns:a16="http://schemas.microsoft.com/office/drawing/2014/main" id="{1E3F7726-AC85-55B8-BDED-51E7BA85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Sets CreatorPilot Apart?</a:t>
            </a:r>
          </a:p>
        </p:txBody>
      </p:sp>
      <p:pic>
        <p:nvPicPr>
          <p:cNvPr id="8" name="Picture Placeholder 7" descr="Businesswoman reviewing sticky notes on a wall">
            <a:extLst>
              <a:ext uri="{FF2B5EF4-FFF2-40B4-BE49-F238E27FC236}">
                <a16:creationId xmlns:a16="http://schemas.microsoft.com/office/drawing/2014/main" id="{66D3A5E9-F687-402F-8477-EE4CD418CA67}"/>
              </a:ext>
            </a:extLst>
          </p:cNvPr>
          <p:cNvPicPr>
            <a:picLocks noGrp="1" noChangeAspect="1"/>
          </p:cNvPicPr>
          <p:nvPr>
            <p:ph type="pic" sz="quarter" idx="5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9" name="Text Placeholder">
            <a:extLst>
              <a:ext uri="{FF2B5EF4-FFF2-40B4-BE49-F238E27FC236}">
                <a16:creationId xmlns:a16="http://schemas.microsoft.com/office/drawing/2014/main" id="{0490F6D4-84D0-42DF-A807-E56706B577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IN" sz="1400" dirty="0"/>
              <a:t>Objective Hook Score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99E3B6AA-5679-428D-B466-0173CBC5572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4442" y="4922963"/>
            <a:ext cx="1691687" cy="811178"/>
          </a:xfrm>
        </p:spPr>
        <p:txBody>
          <a:bodyPr/>
          <a:lstStyle/>
          <a:p>
            <a:r>
              <a:rPr lang="en-IN" altLang="zh-CN" dirty="0"/>
              <a:t>Tells creators if the first 3 seconds grab attention before hitting post.</a:t>
            </a:r>
            <a:endParaRPr lang="zh-CN" altLang="en-US" dirty="0"/>
          </a:p>
        </p:txBody>
      </p:sp>
      <p:pic>
        <p:nvPicPr>
          <p:cNvPr id="10" name="Picture Placeholder 9" descr="People working in office">
            <a:extLst>
              <a:ext uri="{FF2B5EF4-FFF2-40B4-BE49-F238E27FC236}">
                <a16:creationId xmlns:a16="http://schemas.microsoft.com/office/drawing/2014/main" id="{D249D9CF-86A2-4E7B-8B6F-D02EE968C997}"/>
              </a:ext>
            </a:extLst>
          </p:cNvPr>
          <p:cNvPicPr>
            <a:picLocks noGrp="1" noChangeAspect="1"/>
          </p:cNvPicPr>
          <p:nvPr>
            <p:ph type="pic" sz="quarter" idx="58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Text Placeholder">
            <a:extLst>
              <a:ext uri="{FF2B5EF4-FFF2-40B4-BE49-F238E27FC236}">
                <a16:creationId xmlns:a16="http://schemas.microsoft.com/office/drawing/2014/main" id="{3A30B02E-FBE1-41C5-AF6E-E1013275E84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886226" y="4416564"/>
            <a:ext cx="1877575" cy="506399"/>
          </a:xfrm>
        </p:spPr>
        <p:txBody>
          <a:bodyPr/>
          <a:lstStyle/>
          <a:p>
            <a:r>
              <a:rPr lang="en-IN" sz="1400" dirty="0"/>
              <a:t>Humanized Voice Engine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6BEF3457-28AE-41BA-B285-C77561919C1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n-IN" altLang="zh-CN" dirty="0"/>
              <a:t>Learns individual tone preferences so captions never sound like generic AI.</a:t>
            </a:r>
            <a:endParaRPr lang="zh-CN" altLang="en-US" dirty="0"/>
          </a:p>
        </p:txBody>
      </p:sp>
      <p:pic>
        <p:nvPicPr>
          <p:cNvPr id="12" name="Picture Placeholder 11" descr="Layout of website design sketches on white paper">
            <a:extLst>
              <a:ext uri="{FF2B5EF4-FFF2-40B4-BE49-F238E27FC236}">
                <a16:creationId xmlns:a16="http://schemas.microsoft.com/office/drawing/2014/main" id="{3D51D04D-653C-45AE-9DDF-BE96BA267A6B}"/>
              </a:ext>
            </a:extLst>
          </p:cNvPr>
          <p:cNvPicPr>
            <a:picLocks noGrp="1" noChangeAspect="1"/>
          </p:cNvPicPr>
          <p:nvPr>
            <p:ph type="pic" sz="quarter" idx="59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35409" y="2073439"/>
            <a:ext cx="1716063" cy="1949510"/>
          </a:xfrm>
        </p:spPr>
      </p:pic>
      <p:sp>
        <p:nvSpPr>
          <p:cNvPr id="39" name="Text Placeholder">
            <a:extLst>
              <a:ext uri="{FF2B5EF4-FFF2-40B4-BE49-F238E27FC236}">
                <a16:creationId xmlns:a16="http://schemas.microsoft.com/office/drawing/2014/main" id="{1B558BFC-AA9F-4991-A6BB-D56BEC07C16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IN" sz="1400" dirty="0"/>
              <a:t>Smart Distribution Engine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17095E6E-F279-4342-B53E-E53B820336B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166841" y="5007731"/>
            <a:ext cx="1691687" cy="811178"/>
          </a:xfrm>
        </p:spPr>
        <p:txBody>
          <a:bodyPr/>
          <a:lstStyle/>
          <a:p>
            <a:r>
              <a:rPr lang="en-IN" altLang="zh-CN" dirty="0"/>
              <a:t>Combines ideal posting times with aesthetic frame covers for maximum reach.</a:t>
            </a:r>
            <a:endParaRPr lang="en-US" altLang="zh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D9DED-0D81-19D6-DF40-E6B4B5BFEF9E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pic>
        <p:nvPicPr>
          <p:cNvPr id="22" name="Graphic 21" descr="Laptop with phone and calculator">
            <a:extLst>
              <a:ext uri="{FF2B5EF4-FFF2-40B4-BE49-F238E27FC236}">
                <a16:creationId xmlns:a16="http://schemas.microsoft.com/office/drawing/2014/main" id="{3B47D7DC-F79B-ED1F-4DB3-3BC617918A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4511" y="1069302"/>
            <a:ext cx="4638278" cy="463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40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7183-3EBB-B8D1-A66D-964D3C3A7DA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11</a:t>
            </a:fld>
            <a:endParaRPr lang="en-US" altLang="zh-CN" noProof="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FF9613-9DC8-B28E-3253-B1CC8989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48190"/>
            <a:ext cx="12182363" cy="609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17942FE-65D3-7C03-B361-8DF125B81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387749" cy="795249"/>
          </a:xfrm>
        </p:spPr>
        <p:txBody>
          <a:bodyPr/>
          <a:lstStyle/>
          <a:p>
            <a:r>
              <a:rPr lang="en-IN" dirty="0"/>
              <a:t>Key Technical &amp; Operational Challenges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22D79EB2-B914-5355-4D75-3AC59F0DCCC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IN"/>
              <a:t>Bandwidth &amp; Latency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BD10CEB-2241-4246-B0F4-96E0DB642C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IN" altLang="zh-CN" dirty="0"/>
              <a:t>Processing large raw 4K video files requires fast video compression pipelines.</a:t>
            </a:r>
            <a:endParaRPr lang="zh-CN" altLang="en-US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0ECD9490-0BE0-6A65-01CD-D54CAB8395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IN" dirty="0"/>
              <a:t>AI Subjectivity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8038ACE-740A-4AE7-A0B3-BEEA90495B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lvl="0"/>
            <a:r>
              <a:rPr lang="en-IN" altLang="zh-CN" sz="1050" dirty="0"/>
              <a:t>Training models to judge "good content" across diverse creative genres. Training models to judge "good content" across diverse creative genres.</a:t>
            </a:r>
            <a:endParaRPr lang="en-US" altLang="zh-CN" sz="1050" noProof="0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CEEED1DD-BCBD-5246-2A2C-BCED87782D5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IN" dirty="0"/>
              <a:t>Social API Restrictions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D441F7A-4624-45D2-AE88-EEBA65185E6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IN" altLang="zh-CN" dirty="0"/>
              <a:t>Platform API limits and rapid changes to social media algorithm rules.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DD1EA-9A0C-9303-AD79-5DAF401390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72D714-2EA8-5D17-6A6E-62DEA107E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490036" y="1813174"/>
            <a:ext cx="4427849" cy="410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06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Sources &amp; Industry Research</a:t>
            </a:r>
          </a:p>
        </p:txBody>
      </p:sp>
      <p:pic>
        <p:nvPicPr>
          <p:cNvPr id="26" name="Picture Placeholder 25" descr="Layout of website design sketches on white paper">
            <a:extLst>
              <a:ext uri="{FF2B5EF4-FFF2-40B4-BE49-F238E27FC236}">
                <a16:creationId xmlns:a16="http://schemas.microsoft.com/office/drawing/2014/main" id="{4CBFAFCC-A306-4EA1-BEE3-7557795635A8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6D3C8BC-FB28-3127-D29E-D4195120A3C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IN" sz="1600" dirty="0"/>
              <a:t>Global Creator Economy Market Growth</a:t>
            </a:r>
            <a:endParaRPr lang="en-US" sz="1600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IN" dirty="0"/>
              <a:t>Grand View Research / Fortune Business Insights</a:t>
            </a:r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C8E94EA-2767-D144-C1BB-32AA2C99723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11506" y="3625598"/>
            <a:ext cx="3012438" cy="587964"/>
          </a:xfrm>
        </p:spPr>
        <p:txBody>
          <a:bodyPr/>
          <a:lstStyle/>
          <a:p>
            <a:r>
              <a:rPr lang="en-IN" dirty="0"/>
              <a:t>Creator Tool Adoption &amp; Workflow Friction</a:t>
            </a:r>
            <a:endParaRPr lang="en-US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8466807-A2DA-EC5D-ACDE-B83D6F7169E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r>
              <a:rPr lang="en-IN" dirty="0" err="1"/>
              <a:t>Gigapay</a:t>
            </a:r>
            <a:r>
              <a:rPr lang="en-IN" dirty="0"/>
              <a:t> Global Creator Economy </a:t>
            </a:r>
            <a:r>
              <a:rPr lang="en-IN" dirty="0" err="1"/>
              <a:t>Repor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43AAE-D428-CAAE-DCAF-0266FEEEAC7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Eliminate Bottlenecks</a:t>
            </a:r>
          </a:p>
          <a:p>
            <a:r>
              <a:rPr lang="en-IN" dirty="0"/>
              <a:t>Reduces post-production time by 5+ hours weekly, letting creators focus on filming.</a:t>
            </a:r>
          </a:p>
          <a:p>
            <a:r>
              <a:rPr lang="en-IN" b="1" dirty="0"/>
              <a:t>Data-Driven Insights</a:t>
            </a:r>
          </a:p>
          <a:p>
            <a:r>
              <a:rPr lang="en-IN" dirty="0"/>
              <a:t>Combines visual hook scoring with hyper-targeted niche trend matching.</a:t>
            </a:r>
          </a:p>
          <a:p>
            <a:br>
              <a:rPr lang="en-IN" dirty="0"/>
            </a:br>
            <a:endParaRPr lang="en-US" dirty="0"/>
          </a:p>
        </p:txBody>
      </p:sp>
      <p:pic>
        <p:nvPicPr>
          <p:cNvPr id="38" name="Picture Placeholder 37" descr="People working in office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By-SNEHA SINGH</a:t>
            </a:r>
            <a:br>
              <a:rPr lang="en-US" dirty="0"/>
            </a:br>
            <a:r>
              <a:rPr lang="en-US" dirty="0" err="1"/>
              <a:t>Btech</a:t>
            </a:r>
            <a:r>
              <a:rPr lang="en-US" dirty="0"/>
              <a:t> - IT (1st Sem)</a:t>
            </a:r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79</TotalTime>
  <Words>455</Words>
  <Application>Microsoft Office PowerPoint</Application>
  <PresentationFormat>Widescreen</PresentationFormat>
  <Paragraphs>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等线</vt:lpstr>
      <vt:lpstr>Abadi</vt:lpstr>
      <vt:lpstr>Arial</vt:lpstr>
      <vt:lpstr>Calibri</vt:lpstr>
      <vt:lpstr>Posterama</vt:lpstr>
      <vt:lpstr>Posterama Text Black</vt:lpstr>
      <vt:lpstr>Posterama Text SemiBold</vt:lpstr>
      <vt:lpstr>Custom​​</vt:lpstr>
      <vt:lpstr>CreatorPilot An AI Co-Pilot &amp; Pre-Director Engine that transforms raw footage into trend-aligned, optimized social content.</vt:lpstr>
      <vt:lpstr>The Post-Production Friction &amp; Uncertainty</vt:lpstr>
      <vt:lpstr>Who Experiences This Pain Point?</vt:lpstr>
      <vt:lpstr>Why Solve This Problem Now?</vt:lpstr>
      <vt:lpstr>CreatorPilot: Web App + AI Director API</vt:lpstr>
      <vt:lpstr>Where Does AI/ML Drive Value?</vt:lpstr>
      <vt:lpstr>AI &amp; Machine Learning Tech Stack</vt:lpstr>
      <vt:lpstr>Core Data Pipeline Requirements</vt:lpstr>
      <vt:lpstr>Existing Landscape vs. Market Gaps  </vt:lpstr>
      <vt:lpstr>What Sets CreatorPilot Apart?</vt:lpstr>
      <vt:lpstr>PowerPoint Presentation</vt:lpstr>
      <vt:lpstr>Key Technical &amp; Operational Challenges</vt:lpstr>
      <vt:lpstr>Sources &amp; Industry Research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Singh</dc:creator>
  <cp:lastModifiedBy>Sneha Singh</cp:lastModifiedBy>
  <cp:revision>3</cp:revision>
  <dcterms:created xsi:type="dcterms:W3CDTF">2026-10-09T13:05:11Z</dcterms:created>
  <dcterms:modified xsi:type="dcterms:W3CDTF">2026-10-10T16:37:35Z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