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23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E5B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2377440"/>
            <a:ext cx="3291840" cy="3291840"/>
          </a:xfrm>
          <a:prstGeom prst="ellipse">
            <a:avLst/>
          </a:prstGeom>
          <a:solidFill>
            <a:srgbClr val="A7DDBE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DDBE"/>
                </a:solidFill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LeafWhisper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2B134"/>
                </a:solidFill>
              </a:rPr>
              <a:t>An offline plant doctor in every farmer's pocket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8DF"/>
                </a:solidFill>
              </a:rPr>
              <a:t>Catching crop diseases early, before they destroy the harvest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statCard"/>
          <p:cNvSpPr/>
          <p:nvPr/>
        </p:nvSpPr>
        <p:spPr>
          <a:xfrm>
            <a:off x="457200" y="1143000"/>
            <a:ext cx="3017520" cy="3383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40%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2"/>
                </a:solidFill>
              </a:rPr>
              <a:t>of global crop production is lost to pests and diseases every year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$220B+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2"/>
                </a:solidFill>
              </a:rPr>
              <a:t>yearly cost of plant diseases to the world economy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062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F72"/>
                </a:solidFill>
              </a:rPr>
              <a:t>Source: FAO, 2021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280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A22"/>
                </a:solidFill>
              </a:rPr>
              <a:t>Crop diseases usually show up on the leaves only after the damage is already done.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A22"/>
                </a:solidFill>
              </a:rPr>
              <a:t>By the time a farmer sees spots, the infection has often spread across the field.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A22"/>
                </a:solidFill>
              </a:rPr>
              <a:t>Small farmers cannot easily reach an expert, so they guess the disease.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2A22"/>
                </a:solidFill>
              </a:rPr>
              <a:t>Guessing leads to the wrong spray, wasted money and a ruined harvest.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Faces It, and Why It Matters</a:t>
            </a:r>
            <a:endParaRPr lang="en-US" sz="2600" dirty="0"/>
          </a:p>
        </p:txBody>
      </p:sp>
      <p:sp>
        <p:nvSpPr>
          <p:cNvPr id="3" name="whoCard"/>
          <p:cNvSpPr/>
          <p:nvPr/>
        </p:nvSpPr>
        <p:spPr>
          <a:xfrm>
            <a:off x="457200" y="11430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whyCard"/>
          <p:cNvSpPr/>
          <p:nvPr/>
        </p:nvSpPr>
        <p:spPr>
          <a:xfrm>
            <a:off x="4663440" y="11430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E5B"/>
                </a:solidFill>
              </a:rPr>
              <a:t>WHO FACES 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Small farmers (hit hardest)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Large farms and orchards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Food supply chain and consumers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Governments and food-security teams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E5B"/>
                </a:solidFill>
              </a:rPr>
              <a:t>WHY IT IS WORTH SOLVING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Food security: less food lost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Farmer income: fewer failed crops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Less pesticide overuse, safer soil and water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22"/>
                </a:solidFill>
              </a:rPr>
              <a:t>Early action is cheaper than late cure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If it is not solved: lost harvests, higher food prices, poorer farmers.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LeafWhisper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4532D"/>
                </a:solidFill>
              </a:rPr>
              <a:t>Take a photo of a sick leaf. The app tells you the disease and what to do, in your own language, even with no internet.</a:t>
            </a:r>
            <a:endParaRPr lang="en-US" sz="1700" dirty="0"/>
          </a:p>
        </p:txBody>
      </p:sp>
      <p:sp>
        <p:nvSpPr>
          <p:cNvPr id="4" name="step1"/>
          <p:cNvSpPr/>
          <p:nvPr/>
        </p:nvSpPr>
        <p:spPr>
          <a:xfrm>
            <a:off x="457200" y="20116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00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2"/>
                </a:solidFill>
              </a:rPr>
              <a:t>Farmer photographs the sick leaf</a:t>
            </a:r>
            <a:endParaRPr lang="en-US" sz="1300" dirty="0"/>
          </a:p>
        </p:txBody>
      </p:sp>
      <p:sp>
        <p:nvSpPr>
          <p:cNvPr id="9" name="step2"/>
          <p:cNvSpPr/>
          <p:nvPr/>
        </p:nvSpPr>
        <p:spPr>
          <a:xfrm>
            <a:off x="2560320" y="20116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219456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200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2"/>
                </a:solidFill>
              </a:rPr>
              <a:t>AI on the phone names the disease</a:t>
            </a:r>
            <a:endParaRPr lang="en-US" sz="1300" dirty="0"/>
          </a:p>
        </p:txBody>
      </p:sp>
      <p:sp>
        <p:nvSpPr>
          <p:cNvPr id="14" name="step3"/>
          <p:cNvSpPr/>
          <p:nvPr/>
        </p:nvSpPr>
        <p:spPr>
          <a:xfrm>
            <a:off x="4663440" y="20116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19456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00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2"/>
                </a:solidFill>
              </a:rPr>
              <a:t>Voice gives treatment steps in local language</a:t>
            </a:r>
            <a:endParaRPr lang="en-US" sz="1300" dirty="0"/>
          </a:p>
        </p:txBody>
      </p:sp>
      <p:sp>
        <p:nvSpPr>
          <p:cNvPr id="19" name="step4"/>
          <p:cNvSpPr/>
          <p:nvPr/>
        </p:nvSpPr>
        <p:spPr>
          <a:xfrm>
            <a:off x="6766560" y="201168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219456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2004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22"/>
                </a:solidFill>
              </a:rPr>
              <a:t>When online, anonymous data updates an outbreak map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AI/ML Comes In</a:t>
            </a:r>
            <a:endParaRPr lang="en-US" sz="2600" dirty="0"/>
          </a:p>
        </p:txBody>
      </p:sp>
      <p:sp>
        <p:nvSpPr>
          <p:cNvPr id="3" name="type0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2A22"/>
                </a:solidFill>
              </a:rPr>
              <a:t>Teaches a computer to understand pictures.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A22"/>
                </a:solidFill>
              </a:rPr>
              <a:t>Here: it studies the leaf photo and spots signs of disease (models like CNN or Vision Transformer).</a:t>
            </a:r>
            <a:endParaRPr lang="en-US" sz="1150" dirty="0"/>
          </a:p>
        </p:txBody>
      </p:sp>
      <p:sp>
        <p:nvSpPr>
          <p:cNvPr id="6" name="type1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7276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2A22"/>
                </a:solidFill>
              </a:rPr>
              <a:t>Puts an input into one of many known groups.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A22"/>
                </a:solidFill>
              </a:rPr>
              <a:t>Here: decides which disease, or healthy, the leaf belongs to, with a confidence score.</a:t>
            </a:r>
            <a:endParaRPr lang="en-US" sz="1150" dirty="0"/>
          </a:p>
        </p:txBody>
      </p:sp>
      <p:sp>
        <p:nvSpPr>
          <p:cNvPr id="9" name="type2"/>
          <p:cNvSpPr/>
          <p:nvPr/>
        </p:nvSpPr>
        <p:spPr>
          <a:xfrm>
            <a:off x="457200" y="2606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Time-series prediction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0815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2A22"/>
                </a:solidFill>
              </a:rPr>
              <a:t>Studies data that changes over time to forecast what comes next.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A22"/>
                </a:solidFill>
              </a:rPr>
              <a:t>Here: uses past weather and outbreak data to warn when disease risk is high, even before spots appear.</a:t>
            </a:r>
            <a:endParaRPr lang="en-US" sz="1150" dirty="0"/>
          </a:p>
        </p:txBody>
      </p:sp>
      <p:sp>
        <p:nvSpPr>
          <p:cNvPr id="12" name="type3"/>
          <p:cNvSpPr/>
          <p:nvPr/>
        </p:nvSpPr>
        <p:spPr>
          <a:xfrm>
            <a:off x="4663440" y="2606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715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Explainable AI + Speech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08152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B2A22"/>
                </a:solidFill>
              </a:rPr>
              <a:t>Explainable AI shows why the model decided. Speech turns text into voice.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A22"/>
                </a:solidFill>
              </a:rPr>
              <a:t>Here: a heatmap marks the infected area, and advice is spoken in the farmer's language.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Needs AI: reading the leaf photo and predicting weather risk. Does not need AI: treatment advice (expert-written database).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Data We Need</a:t>
            </a:r>
            <a:endParaRPr lang="en-US" sz="2600" dirty="0"/>
          </a:p>
        </p:txBody>
      </p:sp>
      <p:sp>
        <p:nvSpPr>
          <p:cNvPr id="3" name="data0"/>
          <p:cNvSpPr/>
          <p:nvPr/>
        </p:nvSpPr>
        <p:spPr>
          <a:xfrm>
            <a:off x="457200" y="1143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 images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Public sets like PlantVillage (about 54,000 images, 14 crops, 38 classes) to start training</a:t>
            </a:r>
            <a:endParaRPr lang="en-US" sz="1250" dirty="0"/>
          </a:p>
        </p:txBody>
      </p:sp>
      <p:sp>
        <p:nvSpPr>
          <p:cNvPr id="6" name="data1"/>
          <p:cNvSpPr/>
          <p:nvPr/>
        </p:nvSpPr>
        <p:spPr>
          <a:xfrm>
            <a:off x="3246120" y="1143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field photos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Our own photos from farms, to close the lab-to-field gap</a:t>
            </a:r>
            <a:endParaRPr lang="en-US" sz="1250" dirty="0"/>
          </a:p>
        </p:txBody>
      </p:sp>
      <p:sp>
        <p:nvSpPr>
          <p:cNvPr id="9" name="data2"/>
          <p:cNvSpPr/>
          <p:nvPr/>
        </p:nvSpPr>
        <p:spPr>
          <a:xfrm>
            <a:off x="6035040" y="1143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 data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Temperature, humidity, rainfall for risk prediction</a:t>
            </a:r>
            <a:endParaRPr lang="en-US" sz="1250" dirty="0"/>
          </a:p>
        </p:txBody>
      </p:sp>
      <p:sp>
        <p:nvSpPr>
          <p:cNvPr id="12" name="data3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Outbreak history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Where and when each disease appeared</a:t>
            </a:r>
            <a:endParaRPr lang="en-US" sz="1250" dirty="0"/>
          </a:p>
        </p:txBody>
      </p:sp>
      <p:sp>
        <p:nvSpPr>
          <p:cNvPr id="15" name="data4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Expert labels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Agronomists confirming each diagnosis</a:t>
            </a:r>
            <a:endParaRPr lang="en-US" sz="1250" dirty="0"/>
          </a:p>
        </p:txBody>
      </p:sp>
      <p:sp>
        <p:nvSpPr>
          <p:cNvPr id="18" name="data5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content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Treatment advice recorded in local languages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F72"/>
                </a:solidFill>
              </a:rPr>
              <a:t>Lab-to-field gap: models trained on clean lab photos often fail on messy real farms.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Something Similar Exist?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we can fill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22"/>
                          </a:solidFill>
                        </a:rPr>
                        <a:t>Plantix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</a:rPr>
                        <a:t>Photo-based diagnosis app for many crops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</a:rPr>
                        <a:t>Mostly depends on an internet connection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22"/>
                          </a:solidFill>
                        </a:rPr>
                        <a:t>PlantVillage Nuru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</a:rPr>
                        <a:t>Offline AI assistant for a few crops and pests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</a:rPr>
                        <a:t>Covers limited crops and pests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B2A22"/>
                          </a:solidFill>
                        </a:rPr>
                        <a:t>Agrio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</a:rPr>
                        <a:t>Leaf diagnosis plus satellite field tracking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22"/>
                          </a:solidFill>
                        </a:rPr>
                        <a:t>Advanced features need a paid plan</a:t>
                      </a:r>
                      <a:endParaRPr lang="en-US" sz="1250" dirty="0"/>
                    </a:p>
                  </a:txBody>
                  <a:tcPr anchor="ctr">
                    <a:lnL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F72"/>
                </a:solidFill>
              </a:rPr>
              <a:t>I found these three through research; details to be re-checked on each tool's own website.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Different + Final Product</a:t>
            </a:r>
            <a:endParaRPr lang="en-US" sz="2600" dirty="0"/>
          </a:p>
        </p:txBody>
      </p:sp>
      <p:sp>
        <p:nvSpPr>
          <p:cNvPr id="3" name="uspCard"/>
          <p:cNvSpPr/>
          <p:nvPr/>
        </p:nvSpPr>
        <p:spPr>
          <a:xfrm>
            <a:off x="457200" y="114300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prodCard"/>
          <p:cNvSpPr/>
          <p:nvPr/>
        </p:nvSpPr>
        <p:spPr>
          <a:xfrm>
            <a:off x="5394960" y="114300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E5B"/>
                </a:solidFill>
              </a:rPr>
              <a:t>OUR USP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22"/>
                </a:solidFill>
              </a:rPr>
              <a:t>Offline-first: works with no signal on a low-cost phone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22"/>
                </a:solidFill>
              </a:rPr>
              <a:t>Voice advice in the farmer's own language (e.g. Hindi)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22"/>
                </a:solidFill>
              </a:rPr>
              <a:t>Shows WHERE on the leaf the disease is, so farmers trust it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22"/>
                </a:solidFill>
              </a:rPr>
              <a:t>Combines photo + weather risk to reduce false alarms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E5B"/>
                </a:solidFill>
              </a:rPr>
              <a:t>FINAL PRODUCT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2356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532D"/>
                </a:solidFill>
              </a:rPr>
              <a:t>Android mobile app (main product)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23560" y="2468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22"/>
                </a:solidFill>
              </a:rPr>
              <a:t>Later: a simple web dashboard for agronomists to see outbreak maps.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and Open Questions</a:t>
            </a:r>
            <a:endParaRPr lang="en-US" sz="2600" dirty="0"/>
          </a:p>
        </p:txBody>
      </p:sp>
      <p:sp>
        <p:nvSpPr>
          <p:cNvPr id="3" name="ch0"/>
          <p:cNvSpPr/>
          <p:nvPr/>
        </p:nvSpPr>
        <p:spPr>
          <a:xfrm>
            <a:off x="457200" y="1143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532D"/>
                </a:solidFill>
              </a:rPr>
              <a:t>Lab-to-field gap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Idea: Collect real farm photos; test in fields</a:t>
            </a:r>
            <a:endParaRPr lang="en-US" sz="1250" dirty="0"/>
          </a:p>
        </p:txBody>
      </p:sp>
      <p:sp>
        <p:nvSpPr>
          <p:cNvPr id="6" name="ch1"/>
          <p:cNvSpPr/>
          <p:nvPr/>
        </p:nvSpPr>
        <p:spPr>
          <a:xfrm>
            <a:off x="3246120" y="1143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532D"/>
                </a:solidFill>
              </a:rPr>
              <a:t>Labelled data is scarce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Idea: Work with agronomists; use transfer learning</a:t>
            </a:r>
            <a:endParaRPr lang="en-US" sz="1250" dirty="0"/>
          </a:p>
        </p:txBody>
      </p:sp>
      <p:sp>
        <p:nvSpPr>
          <p:cNvPr id="9" name="ch2"/>
          <p:cNvSpPr/>
          <p:nvPr/>
        </p:nvSpPr>
        <p:spPr>
          <a:xfrm>
            <a:off x="6035040" y="11430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532D"/>
                </a:solidFill>
              </a:rPr>
              <a:t>Look-alike diseases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Idea: Show top 3 guesses with confidence</a:t>
            </a:r>
            <a:endParaRPr lang="en-US" sz="1250" dirty="0"/>
          </a:p>
        </p:txBody>
      </p:sp>
      <p:sp>
        <p:nvSpPr>
          <p:cNvPr id="12" name="ch3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532D"/>
                </a:solidFill>
              </a:rPr>
              <a:t>Poor light and cluttered photos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Idea: Guide the user's photo; remove background</a:t>
            </a:r>
            <a:endParaRPr lang="en-US" sz="1250" dirty="0"/>
          </a:p>
        </p:txBody>
      </p:sp>
      <p:sp>
        <p:nvSpPr>
          <p:cNvPr id="15" name="ch4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532D"/>
                </a:solidFill>
              </a:rPr>
              <a:t>Wrong diagnosis risk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Idea: Say 'not sure' and suggest an expert</a:t>
            </a:r>
            <a:endParaRPr lang="en-US" sz="1250" dirty="0"/>
          </a:p>
        </p:txBody>
      </p:sp>
      <p:sp>
        <p:nvSpPr>
          <p:cNvPr id="18" name="ch5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8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4532D"/>
                </a:solidFill>
              </a:rPr>
              <a:t>Trust and language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22"/>
                </a:solidFill>
              </a:rPr>
              <a:t>Idea: Heatmap plus local-language voice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and Research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</a:rPr>
              <a:t>FAO news: climate change fans spread of pests (2021). sfcs.fao.org/newsroom/detail/Climate-change-fans-spread-of-pests-and-threatens-plants-and-crops-new-FAO-study/en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</a:rPr>
              <a:t>World Economic Forum: 40% of global crop production is lost to pests (2021). weforum.org/stories/2021/06/climate-change-insects-pests-crops-agriculture/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</a:rPr>
              <a:t>Hughes and Salathe: An open access repository of images on plant health (PlantVillage). arxiv.org/abs/1511.08060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22"/>
                </a:solidFill>
              </a:rPr>
              <a:t>Plantix, PlantVillage Nuru and Agrio official websites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fWhisper">
  <a:themeElements>
    <a:clrScheme name="LeafWhisper">
      <a:dk1>
        <a:srgbClr val="1B2A22"/>
      </a:dk1>
      <a:lt1>
        <a:srgbClr val="FFFFFF"/>
      </a:lt1>
      <a:dk2>
        <a:srgbClr val="14532D"/>
      </a:dk2>
      <a:lt2>
        <a:srgbClr val="F1F7F2"/>
      </a:lt2>
      <a:accent1>
        <a:srgbClr val="2E9E5B"/>
      </a:accent1>
      <a:accent2>
        <a:srgbClr val="F2B134"/>
      </a:accent2>
      <a:accent3>
        <a:srgbClr val="A7DDBE"/>
      </a:accent3>
      <a:accent4>
        <a:srgbClr val="3B7DD8"/>
      </a:accent4>
      <a:accent5>
        <a:srgbClr val="DCE8DF"/>
      </a:accent5>
      <a:accent6>
        <a:srgbClr val="D9534F"/>
      </a:accent6>
      <a:hlink>
        <a:srgbClr val="2E9E5B"/>
      </a:hlink>
      <a:folHlink>
        <a:srgbClr val="14532D"/>
      </a:folHlink>
    </a:clrScheme>
    <a:fontScheme name="LeafWhispe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829</Words>
  <Application>Microsoft Office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LeafWhisper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Sanchit Nagpal</cp:lastModifiedBy>
  <cp:revision>1</cp:revision>
  <dcterms:created xsi:type="dcterms:W3CDTF">2026-10-21T18:25:02Z</dcterms:created>
  <dcterms:modified xsi:type="dcterms:W3CDTF">2026-10-21T18:28:39Z</dcterms:modified>
</cp:coreProperties>
</file>